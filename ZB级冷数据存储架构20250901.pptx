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0" r:id="rId2"/>
    <p:sldMasterId id="2147483692" r:id="rId3"/>
    <p:sldMasterId id="2147483793" r:id="rId4"/>
  </p:sldMasterIdLst>
  <p:notesMasterIdLst>
    <p:notesMasterId r:id="rId8"/>
  </p:notesMasterIdLst>
  <p:handoutMasterIdLst>
    <p:handoutMasterId r:id="rId9"/>
  </p:handoutMasterIdLst>
  <p:sldIdLst>
    <p:sldId id="372" r:id="rId5"/>
    <p:sldId id="3685986" r:id="rId6"/>
    <p:sldId id="12540517" r:id="rId7"/>
  </p:sldIdLst>
  <p:sldSz cx="12192000" cy="6858000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000" kern="120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kumimoji="1" sz="2000" kern="120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kumimoji="1" sz="2000" kern="120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kumimoji="1" sz="2000" kern="120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kumimoji="1" sz="2000" kern="120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6" userDrawn="1">
          <p15:clr>
            <a:srgbClr val="A4A3A4"/>
          </p15:clr>
        </p15:guide>
        <p15:guide id="2" pos="34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>
          <p15:clr>
            <a:srgbClr val="A4A3A4"/>
          </p15:clr>
        </p15:guide>
        <p15:guide id="2" pos="221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CC00"/>
    <a:srgbClr val="0033CC"/>
    <a:srgbClr val="C0C3C5"/>
    <a:srgbClr val="FF3399"/>
    <a:srgbClr val="BFBFBF"/>
    <a:srgbClr val="990033"/>
    <a:srgbClr val="D9CFC1"/>
    <a:srgbClr val="EEE3AB"/>
    <a:srgbClr val="80A1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82" autoAdjust="0"/>
    <p:restoredTop sz="95768" autoAdjust="0"/>
  </p:normalViewPr>
  <p:slideViewPr>
    <p:cSldViewPr showGuides="1">
      <p:cViewPr varScale="1">
        <p:scale>
          <a:sx n="98" d="100"/>
          <a:sy n="98" d="100"/>
        </p:scale>
        <p:origin x="1560" y="60"/>
      </p:cViewPr>
      <p:guideLst>
        <p:guide orient="horz" pos="1616"/>
        <p:guide pos="3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57" d="100"/>
          <a:sy n="57" d="100"/>
        </p:scale>
        <p:origin x="-2520" y="-78"/>
      </p:cViewPr>
      <p:guideLst>
        <p:guide orient="horz" pos="3222"/>
        <p:guide pos="221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3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3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A98773E-352E-4043-AF2D-680842F7F5EF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AD3BAB0-A9B9-45B8-ADCE-F0F60450D56A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D3BAB0-A9B9-45B8-ADCE-F0F60450D56A}" type="slidenum">
              <a:rPr lang="en-US" altLang="zh-CN" smtClean="0"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4898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64076-B0C3-53ED-1BA4-DD0CFEF0B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400AFC-EEC6-C002-F180-339120952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EBEC87-440C-9BF2-8470-D9DB9817A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1" i="0">
                <a:solidFill>
                  <a:srgbClr val="000000"/>
                </a:solidFill>
                <a:effectLst/>
                <a:latin typeface="Inter"/>
              </a:rPr>
              <a:t>文件系统模块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>
                <a:solidFill>
                  <a:srgbClr val="000000"/>
                </a:solidFill>
                <a:effectLst/>
                <a:latin typeface="Inter"/>
              </a:rPr>
              <a:t>元数据管理</a:t>
            </a:r>
            <a:r>
              <a:rPr lang="zh-CN" altLang="en-US" b="0" i="0">
                <a:solidFill>
                  <a:srgbClr val="000000"/>
                </a:solidFill>
                <a:effectLst/>
                <a:latin typeface="Inter"/>
              </a:rPr>
              <a:t>：通过模拟元数据操作接口，实现元数据的统一管控与持久化存储，支撑百亿级文件的模拟能力。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>
                <a:solidFill>
                  <a:srgbClr val="000000"/>
                </a:solidFill>
                <a:effectLst/>
                <a:latin typeface="Inter"/>
              </a:rPr>
              <a:t>接口服务</a:t>
            </a:r>
            <a:r>
              <a:rPr lang="zh-CN" altLang="en-US" b="0" i="0">
                <a:solidFill>
                  <a:srgbClr val="000000"/>
                </a:solidFill>
                <a:effectLst/>
                <a:latin typeface="Inter"/>
              </a:rPr>
              <a:t>：对外提供符合 </a:t>
            </a:r>
            <a:r>
              <a:rPr lang="en-US" altLang="zh-CN" b="0" i="0">
                <a:solidFill>
                  <a:srgbClr val="000000"/>
                </a:solidFill>
                <a:effectLst/>
                <a:latin typeface="Inter"/>
              </a:rPr>
              <a:t>POSIX </a:t>
            </a:r>
            <a:r>
              <a:rPr lang="zh-CN" altLang="en-US" b="0" i="0">
                <a:solidFill>
                  <a:srgbClr val="000000"/>
                </a:solidFill>
                <a:effectLst/>
                <a:latin typeface="Inter"/>
              </a:rPr>
              <a:t>语义的标准接口，涵盖文件创建、打开、读写、关闭等完整操作。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>
                <a:solidFill>
                  <a:srgbClr val="000000"/>
                </a:solidFill>
                <a:effectLst/>
                <a:latin typeface="Inter"/>
              </a:rPr>
              <a:t>存储调度</a:t>
            </a:r>
            <a:r>
              <a:rPr lang="zh-CN" altLang="en-US" b="0" i="0">
                <a:solidFill>
                  <a:srgbClr val="000000"/>
                </a:solidFill>
                <a:effectLst/>
                <a:latin typeface="Inter"/>
              </a:rPr>
              <a:t>：对存储端提供的卷空间实施统一管理，负责文件在卷空间中的分配，并向存储资源管理模块发起 </a:t>
            </a:r>
            <a:r>
              <a:rPr lang="en-US" altLang="zh-CN" b="0" i="0">
                <a:solidFill>
                  <a:srgbClr val="000000"/>
                </a:solidFill>
                <a:effectLst/>
                <a:latin typeface="Inter"/>
              </a:rPr>
              <a:t>IO </a:t>
            </a:r>
            <a:r>
              <a:rPr lang="zh-CN" altLang="en-US" b="0" i="0">
                <a:solidFill>
                  <a:srgbClr val="000000"/>
                </a:solidFill>
                <a:effectLst/>
                <a:latin typeface="Inter"/>
              </a:rPr>
              <a:t>请求。</a:t>
            </a:r>
          </a:p>
          <a:p>
            <a:pPr algn="l"/>
            <a:r>
              <a:rPr lang="zh-CN" altLang="en-US" b="1" i="0">
                <a:solidFill>
                  <a:srgbClr val="000000"/>
                </a:solidFill>
                <a:effectLst/>
                <a:latin typeface="Inter"/>
              </a:rPr>
              <a:t>存储资源管理模块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>
                <a:solidFill>
                  <a:srgbClr val="000000"/>
                </a:solidFill>
                <a:effectLst/>
                <a:latin typeface="Inter"/>
              </a:rPr>
              <a:t>节点管理</a:t>
            </a:r>
            <a:r>
              <a:rPr lang="zh-CN" altLang="en-US" b="0" i="0">
                <a:solidFill>
                  <a:srgbClr val="000000"/>
                </a:solidFill>
                <a:effectLst/>
                <a:latin typeface="Inter"/>
              </a:rPr>
              <a:t>：通过存储节点信息的持久化处理，实现对百万级存储节点的有效支撑；各类存储节点均向文件系统模块提供卷空间，作为文件读写的存储载体。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>
                <a:solidFill>
                  <a:srgbClr val="000000"/>
                </a:solidFill>
                <a:effectLst/>
                <a:latin typeface="Inter"/>
              </a:rPr>
              <a:t>光盘资源管控</a:t>
            </a:r>
            <a:r>
              <a:rPr lang="zh-CN" altLang="en-US" b="0" i="0">
                <a:solidFill>
                  <a:srgbClr val="000000"/>
                </a:solidFill>
                <a:effectLst/>
                <a:latin typeface="Inter"/>
              </a:rPr>
              <a:t>：采用分组持久化机制，实现对 </a:t>
            </a:r>
            <a:r>
              <a:rPr lang="en-US" altLang="zh-CN" b="0" i="0">
                <a:solidFill>
                  <a:srgbClr val="000000"/>
                </a:solidFill>
                <a:effectLst/>
                <a:latin typeface="Inter"/>
              </a:rPr>
              <a:t>1 </a:t>
            </a:r>
            <a:r>
              <a:rPr lang="zh-CN" altLang="en-US" b="0" i="0">
                <a:solidFill>
                  <a:srgbClr val="000000"/>
                </a:solidFill>
                <a:effectLst/>
                <a:latin typeface="Inter"/>
              </a:rPr>
              <a:t>亿张光盘的管理；包含光盘资源缓存子功能，负责接收文件系统模块发起的镜像刻录操作。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>
                <a:solidFill>
                  <a:srgbClr val="000000"/>
                </a:solidFill>
                <a:effectLst/>
                <a:latin typeface="Inter"/>
              </a:rPr>
              <a:t>性能模拟</a:t>
            </a:r>
            <a:r>
              <a:rPr lang="zh-CN" altLang="en-US" b="0" i="0">
                <a:solidFill>
                  <a:srgbClr val="000000"/>
                </a:solidFill>
                <a:effectLst/>
                <a:latin typeface="Inter"/>
              </a:rPr>
              <a:t>：针对文件系统模块发送的各类 </a:t>
            </a:r>
            <a:r>
              <a:rPr lang="en-US" altLang="zh-CN" b="0" i="0">
                <a:solidFill>
                  <a:srgbClr val="000000"/>
                </a:solidFill>
                <a:effectLst/>
                <a:latin typeface="Inter"/>
              </a:rPr>
              <a:t>IO </a:t>
            </a:r>
            <a:r>
              <a:rPr lang="zh-CN" altLang="en-US" b="0" i="0">
                <a:solidFill>
                  <a:srgbClr val="000000"/>
                </a:solidFill>
                <a:effectLst/>
                <a:latin typeface="Inter"/>
              </a:rPr>
              <a:t>请求，通过模拟网络延迟、</a:t>
            </a:r>
            <a:r>
              <a:rPr lang="en-US" altLang="zh-CN" b="0" i="0">
                <a:solidFill>
                  <a:srgbClr val="000000"/>
                </a:solidFill>
                <a:effectLst/>
                <a:latin typeface="Inter"/>
              </a:rPr>
              <a:t>IO </a:t>
            </a:r>
            <a:r>
              <a:rPr lang="zh-CN" altLang="en-US" b="0" i="0">
                <a:solidFill>
                  <a:srgbClr val="000000"/>
                </a:solidFill>
                <a:effectLst/>
                <a:latin typeface="Inter"/>
              </a:rPr>
              <a:t>延迟等参数，返回对应的性能模型数据。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C03972-DA9D-8873-C242-7D67EF791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AB07E5A-3D3D-439F-8ED2-96296BDBDC08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7769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3"/>
          <p:cNvSpPr>
            <a:spLocks noChangeArrowheads="1"/>
          </p:cNvSpPr>
          <p:nvPr userDrawn="1"/>
        </p:nvSpPr>
        <p:spPr bwMode="auto">
          <a:xfrm flipV="1">
            <a:off x="609480" y="2583656"/>
            <a:ext cx="11590867" cy="55562"/>
          </a:xfrm>
          <a:prstGeom prst="rect">
            <a:avLst/>
          </a:prstGeom>
          <a:gradFill rotWithShape="0">
            <a:gsLst>
              <a:gs pos="0">
                <a:srgbClr val="0033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2000"/>
          </a:p>
        </p:txBody>
      </p:sp>
      <p:sp>
        <p:nvSpPr>
          <p:cNvPr id="13619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102663" y="1124744"/>
            <a:ext cx="10363200" cy="1470025"/>
          </a:xfrm>
        </p:spPr>
        <p:txBody>
          <a:bodyPr/>
          <a:lstStyle>
            <a:lvl1pPr>
              <a:defRPr kumimoji="0">
                <a:solidFill>
                  <a:srgbClr val="A50021"/>
                </a:solidFill>
                <a:effectLst/>
                <a:latin typeface="Cooper Black" panose="0208090404030B020404" pitchFamily="18" charset="0"/>
              </a:defRPr>
            </a:lvl1pPr>
          </a:lstStyle>
          <a:p>
            <a:pPr lvl="0"/>
            <a:r>
              <a:rPr lang="zh-CN" altLang="en-US" noProof="0"/>
              <a:t>模板</a:t>
            </a:r>
            <a:r>
              <a:rPr lang="en-US" altLang="zh-CN" noProof="0"/>
              <a:t>Biomedical photonics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17063" y="2880518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="1">
                <a:solidFill>
                  <a:srgbClr val="0000CC"/>
                </a:solidFill>
                <a:latin typeface="Times" panose="02020603050405020304" pitchFamily="18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2705B-9924-4C6B-89BD-1F82F2CB535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 baseline="0">
                <a:solidFill>
                  <a:srgbClr val="000099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defRPr sz="2800" baseline="0">
                <a:latin typeface="Arial" panose="020B0604020202020204" pitchFamily="34" charset="0"/>
              </a:defRPr>
            </a:lvl1pPr>
            <a:lvl2pPr>
              <a:lnSpc>
                <a:spcPct val="110000"/>
              </a:lnSpc>
              <a:defRPr sz="2400"/>
            </a:lvl2pPr>
            <a:lvl3pPr>
              <a:lnSpc>
                <a:spcPct val="110000"/>
              </a:lnSpc>
              <a:defRPr sz="2000" b="0" i="0" baseline="0">
                <a:latin typeface="Times New Roman" panose="02020603050405020304" charset="0"/>
                <a:ea typeface="等线" panose="02010600030101010101" pitchFamily="2" charset="-122"/>
              </a:defRPr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0F5A1F-24DF-441D-A9FA-AE69A30477B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DB3039-FD11-4FCF-8A04-424F927848A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16113"/>
            <a:ext cx="5384800" cy="45259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16113"/>
            <a:ext cx="5384800" cy="45259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3F764C-5B94-4A05-90E7-46391F37F26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866777"/>
            <a:ext cx="10515600" cy="8239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9724CB-704F-46E8-9F69-6D9E01308A5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FE8AE2-5B58-40A2-AE63-D9AE163EFE9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FF166-80B1-4E80-AA8D-31073934C9C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52EE7-4E56-4AD6-835D-D7214DE1AA7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7ED94E-9637-40A0-99E1-3232AD8E8A4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495E9-1E03-4947-B3D1-0345799A7C8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836613"/>
            <a:ext cx="2743200" cy="56054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836613"/>
            <a:ext cx="8026400" cy="56054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BDC05-B577-4AE9-B35C-A1246CB8567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3">
            <a:extLst>
              <a:ext uri="{FF2B5EF4-FFF2-40B4-BE49-F238E27FC236}">
                <a16:creationId xmlns:a16="http://schemas.microsoft.com/office/drawing/2014/main" id="{58AB7582-9BF6-4A00-830C-9906B21A2958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609480" y="2583656"/>
            <a:ext cx="11590867" cy="55562"/>
          </a:xfrm>
          <a:prstGeom prst="rect">
            <a:avLst/>
          </a:prstGeom>
          <a:gradFill rotWithShape="0">
            <a:gsLst>
              <a:gs pos="0">
                <a:srgbClr val="0033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en-US" sz="2000"/>
          </a:p>
        </p:txBody>
      </p:sp>
      <p:sp>
        <p:nvSpPr>
          <p:cNvPr id="136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02663" y="1124744"/>
            <a:ext cx="10363200" cy="1470025"/>
          </a:xfrm>
        </p:spPr>
        <p:txBody>
          <a:bodyPr/>
          <a:lstStyle>
            <a:lvl1pPr>
              <a:defRPr kumimoji="0">
                <a:solidFill>
                  <a:srgbClr val="A50021"/>
                </a:solidFill>
                <a:effectLst/>
                <a:latin typeface="Cooper Black" panose="0208090404030B020404" pitchFamily="18" charset="0"/>
              </a:defRPr>
            </a:lvl1pPr>
          </a:lstStyle>
          <a:p>
            <a:pPr lvl="0"/>
            <a:r>
              <a:rPr lang="zh-CN" altLang="en-US" noProof="0"/>
              <a:t>模板</a:t>
            </a:r>
            <a:r>
              <a:rPr lang="en-US" altLang="zh-CN" noProof="0"/>
              <a:t>Biomedical photonics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17063" y="2880518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="1">
                <a:solidFill>
                  <a:srgbClr val="0000CC"/>
                </a:solidFill>
                <a:latin typeface="Times" panose="02020603050405020304" pitchFamily="18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2EB3360-BBB9-481C-A5DC-8E769951EF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7DAD8C9-B5E9-4ED6-8642-0A77A0C821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0F9DFF05-F22D-42A9-9CD0-F7BE7D629B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2705B-9924-4C6B-89BD-1F82F2CB53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63055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 baseline="0">
                <a:solidFill>
                  <a:srgbClr val="000099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defRPr sz="2800" baseline="0">
                <a:latin typeface="Arial" panose="020B0604020202020204" pitchFamily="34" charset="0"/>
              </a:defRPr>
            </a:lvl1pPr>
            <a:lvl2pPr>
              <a:lnSpc>
                <a:spcPct val="110000"/>
              </a:lnSpc>
              <a:defRPr sz="2400"/>
            </a:lvl2pPr>
            <a:lvl3pPr>
              <a:lnSpc>
                <a:spcPct val="110000"/>
              </a:lnSpc>
              <a:defRPr sz="2000" b="0" i="0" baseline="0">
                <a:latin typeface="Times New Roman" panose="02020603050405020304" pitchFamily="18" charset="0"/>
                <a:ea typeface="等线" panose="02010600030101010101" pitchFamily="2" charset="-122"/>
              </a:defRPr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EE9BFCF-C7E9-4114-A674-D6BB55304C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8A103A-27D5-423D-8DC6-14C16CEB1A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266FBC6-DDE9-410E-926C-8E0CF11251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0F5A1F-24DF-441D-A9FA-AE69A30477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6480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BFA3AF-DC7A-4949-881E-023E3BB4D3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1EF4A4-43DE-448F-BB4E-C8A2C7F100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43C15C-BE8F-4EE1-BCCF-D5EF8D365E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DB3039-FD11-4FCF-8A04-424F927848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31884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16113"/>
            <a:ext cx="5384800" cy="45259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16113"/>
            <a:ext cx="5384800" cy="45259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98BE93-E90E-4E59-81E5-03BDB83126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59B89C-70AF-43D3-B19F-9B1A19A9D2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E65872-7219-4A7D-8F4C-3EB9E2F12D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3F764C-5B94-4A05-90E7-46391F37F2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2785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866777"/>
            <a:ext cx="10515600" cy="8239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B724625-980B-47DB-B666-7F559A9982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CA372D2-0162-41F6-8545-2922E8AACE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543E00-7D27-4BB8-BB0A-C8A30DE978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9724CB-704F-46E8-9F69-6D9E01308A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29643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3F11107-412E-4B98-8FE4-6AF877809A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C1C905E-7731-4357-876B-36BEB2EF01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B283649-DA1E-4F5C-A44B-4829796187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FE8AE2-5B58-40A2-AE63-D9AE163EFE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189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0704519-0845-4C12-830D-6D348F137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94ABF0E-A3B3-473E-BC31-99504C694F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D07E88F-889B-41D8-8973-7BDE6F86B0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FF166-80B1-4E80-AA8D-31073934C9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22869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AB06B0-FCFE-4650-861D-572AAA8665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10C22-9331-4FE9-9E22-C5551C709B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CCEC9D-7D00-4D4B-8CB4-ACA3444C15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752EE7-4E56-4AD6-835D-D7214DE1AA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06443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FE7251-4238-44DD-A47D-65766A58E7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621934-3134-4873-90BE-3F681F9D40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948A22-DC97-41EC-A431-45074E0ADC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7ED94E-9637-40A0-99E1-3232AD8E8A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48977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C0BF6B1-5044-4C7F-AF02-2A734A17D5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68205F5-A9AB-403B-B4D5-787C2C1B08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2C7996-C002-4DE8-9FD7-B8148A8610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5495E9-1E03-4947-B3D1-0345799A7C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20395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836613"/>
            <a:ext cx="2743200" cy="56054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836613"/>
            <a:ext cx="8026400" cy="56054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957E11-E829-4708-AAC9-2D7684E9B1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8EB5A01-EFEB-4758-ADA3-3CC3AC91F8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80FDBCA-9470-4631-82BF-58D410CA5C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BDC05-B577-4AE9-B35C-A1246CB856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21070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4825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1197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4721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1120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8905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1257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8715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6428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2045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154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5684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">
    <p:bg>
      <p:bgPr>
        <a:solidFill>
          <a:srgbClr val="0070C0">
            <a:alpha val="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317379" y="181838"/>
            <a:ext cx="2266980" cy="166199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indent="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dk1"/>
                </a:solidFill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dk1"/>
                </a:solidFill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dk1"/>
                </a:solidFill>
              </a:defRPr>
            </a:lvl9pPr>
          </a:lstStyle>
          <a:p>
            <a:pPr marL="0" lvl="0" indent="0" algn="dist"/>
            <a:r>
              <a:rPr lang="zh-CN" altLang="en-US" sz="1200" dirty="0">
                <a:solidFill>
                  <a:schemeClr val="bg1"/>
                </a:solidFill>
              </a:rPr>
              <a:t> 先进计算与新兴软件 </a:t>
            </a: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2833624" y="181838"/>
            <a:ext cx="0" cy="461488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标题 4"/>
          <p:cNvSpPr>
            <a:spLocks noGrp="1"/>
          </p:cNvSpPr>
          <p:nvPr userDrawn="1">
            <p:ph type="title" hasCustomPrompt="1"/>
          </p:nvPr>
        </p:nvSpPr>
        <p:spPr>
          <a:xfrm>
            <a:off x="3082888" y="166735"/>
            <a:ext cx="9109111" cy="491695"/>
          </a:xfrm>
          <a:prstGeom prst="rect">
            <a:avLst/>
          </a:prstGeom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t">
            <a:noAutofit/>
          </a:bodyPr>
          <a:lstStyle>
            <a:lvl1pPr algn="l">
              <a:lnSpc>
                <a:spcPct val="120000"/>
              </a:lnSpc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主标题：一句话概述本页内容</a:t>
            </a: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317379" y="421727"/>
            <a:ext cx="2266980" cy="221599"/>
            <a:chOff x="317379" y="421727"/>
            <a:chExt cx="2266980" cy="221599"/>
          </a:xfrm>
        </p:grpSpPr>
        <p:sp>
          <p:nvSpPr>
            <p:cNvPr id="3" name="文本占位符 2"/>
            <p:cNvSpPr txBox="1"/>
            <p:nvPr userDrawn="1"/>
          </p:nvSpPr>
          <p:spPr>
            <a:xfrm>
              <a:off x="588872" y="421727"/>
              <a:ext cx="1995487" cy="221599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miter lim="800000"/>
            </a:ln>
            <a:effectLst/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600" kern="12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/>
              <a:r>
                <a:rPr lang="zh-CN" altLang="en-US" b="1" dirty="0">
                  <a:solidFill>
                    <a:schemeClr val="bg1"/>
                  </a:solidFill>
                </a:rPr>
                <a:t>项目背景与科学问题</a:t>
              </a:r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317379" y="424526"/>
              <a:ext cx="216000" cy="216000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</a:rPr>
                <a:t>1</a:t>
              </a:r>
              <a:endParaRPr lang="zh-CN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07095808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609600" y="1123950"/>
            <a:ext cx="10972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09600" y="33718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1800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1800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124744"/>
            <a:ext cx="10566400" cy="2232248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 dirty="0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404592"/>
            <a:ext cx="10464800" cy="1248544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 dirty="0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aramond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Juan Gómez Luna Peking University. Beijing, September 7, 2015 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7341D3D9-3FE8-4025-BF66-8DAB1ABB95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58354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Juan Gómez Luna Peking University. Beijing, September 7, 2015 </a:t>
            </a: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3594FA-E141-4234-AE05-360401972B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91357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Juan Gómez Luna Peking University. Beijing, September 7, 2015 </a:t>
            </a: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AC7BA1-BEA2-40AF-9056-44DC8C9856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59908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908720"/>
            <a:ext cx="5638800" cy="54726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908720"/>
            <a:ext cx="5638800" cy="54726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Juan Gómez Luna Peking University. Beijing, September 7, 2015 </a:t>
            </a: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D2BBBE-2A44-4D16-8758-0239282DCC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05489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Juan Gómez Luna Peking University. Beijing, September 7, 2015 </a:t>
            </a:r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FD5635-BCCD-45D2-B61E-320731E13B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49544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Juan Gómez Luna Peking University. Beijing, September 7, 2015 </a:t>
            </a: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8A7077-2B78-4FB5-8F56-24239751AE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49978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Juan Gómez Luna Peking University. Beijing, September 7, 2015 </a:t>
            </a:r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86574E-FA2E-425B-A84C-39F9592E9E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036597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Juan Gómez Luna Peking University. Beijing, September 7, 2015 </a:t>
            </a: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48CFD0-6DDB-45F0-A989-9F5CE648BC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85577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Juan Gómez Luna Peking University. Beijing, September 7, 2015 </a:t>
            </a: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7B092-8552-4BA4-B0E1-CE51B98A2A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97522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Juan Gómez Luna Peking University. Beijing, September 7, 2015 </a:t>
            </a: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4DDA66-0DFC-412A-A4B0-EFE91F0913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561585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15400" y="152400"/>
            <a:ext cx="28702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07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Juan Gómez Luna Peking University. Beijing, September 7, 2015 </a:t>
            </a: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1F9A79-97CD-456A-8962-B51E5744B9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3249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79376" y="44624"/>
            <a:ext cx="10972800" cy="863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模板</a:t>
            </a:r>
            <a:r>
              <a:rPr lang="en-US" altLang="zh-CN" dirty="0"/>
              <a:t>Chapter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4126" y="1167101"/>
            <a:ext cx="10972800" cy="511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第一级</a:t>
            </a:r>
            <a:r>
              <a:rPr lang="en-US" altLang="zh-CN" dirty="0" err="1"/>
              <a:t>abcd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r>
              <a:rPr lang="en-US" altLang="zh-CN" dirty="0" err="1"/>
              <a:t>adb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r>
              <a:rPr lang="en-US" altLang="zh-CN" dirty="0" err="1"/>
              <a:t>kljaskf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35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374133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35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74133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92344" y="61055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4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3AA77E0-D2E2-41FA-A093-FF57E35EC935}" type="slidenum">
              <a:rPr lang="en-US" altLang="zh-CN"/>
              <a:t>‹#›</a:t>
            </a:fld>
            <a:endParaRPr lang="en-US" altLang="zh-CN" dirty="0"/>
          </a:p>
        </p:txBody>
      </p:sp>
      <p:sp>
        <p:nvSpPr>
          <p:cNvPr id="1032" name="Rectangle 17"/>
          <p:cNvSpPr>
            <a:spLocks noChangeArrowheads="1"/>
          </p:cNvSpPr>
          <p:nvPr userDrawn="1"/>
        </p:nvSpPr>
        <p:spPr bwMode="gray">
          <a:xfrm flipV="1">
            <a:off x="23664" y="956011"/>
            <a:ext cx="12144671" cy="45719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zh-CN" sz="240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9105322" y="260648"/>
            <a:ext cx="2847193" cy="481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 b="1" kern="1200" baseline="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黑体" panose="02010609060101010101" pitchFamily="49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  <a:cs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  <a:cs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  <a:cs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  <a:cs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3366FF"/>
        </a:buClr>
        <a:buSzPct val="75000"/>
        <a:buFont typeface="Wingdings" panose="05000000000000000000" pitchFamily="2" charset="2"/>
        <a:buChar char="ª"/>
        <a:defRPr kumimoji="1" sz="3200" kern="1200" baseline="0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80000"/>
        <a:buFont typeface="Wingdings" panose="05000000000000000000" pitchFamily="2" charset="2"/>
        <a:buChar char="Ø"/>
        <a:defRPr kumimoji="1" sz="2600" kern="1200" baseline="0">
          <a:solidFill>
            <a:schemeClr val="tx1"/>
          </a:solidFill>
          <a:latin typeface="Arial" panose="020B0604020202020204" pitchFamily="34" charset="0"/>
          <a:ea typeface="+mn-ea"/>
          <a:cs typeface="黑体" panose="02010609060101010101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sz="2200" b="1" kern="1200" baseline="0">
          <a:solidFill>
            <a:schemeClr val="tx1"/>
          </a:solidFill>
          <a:latin typeface="Comic Sans MS" panose="030F0702030302020204" pitchFamily="66" charset="0"/>
          <a:ea typeface="楷体_GB2312" panose="02010609030101010101" pitchFamily="49" charset="-122"/>
          <a:cs typeface="楷体_GB2312" panose="02010609030101010101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721F89C6-4F12-4BB2-A140-C334ED6151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79376" y="44624"/>
            <a:ext cx="10972800" cy="863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模板</a:t>
            </a:r>
            <a:r>
              <a:rPr lang="en-US" altLang="zh-CN" dirty="0"/>
              <a:t>Chapter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0BCC8843-7B02-4B96-B67E-390EDE0878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4126" y="1167101"/>
            <a:ext cx="10972800" cy="511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第一级</a:t>
            </a:r>
            <a:r>
              <a:rPr lang="en-US" altLang="zh-CN" dirty="0" err="1"/>
              <a:t>abcd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r>
              <a:rPr lang="en-US" altLang="zh-CN" dirty="0" err="1"/>
              <a:t>adb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r>
              <a:rPr lang="en-US" altLang="zh-CN" dirty="0" err="1"/>
              <a:t>kljaskf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35172" name="Rectangle 4">
            <a:extLst>
              <a:ext uri="{FF2B5EF4-FFF2-40B4-BE49-F238E27FC236}">
                <a16:creationId xmlns:a16="http://schemas.microsoft.com/office/drawing/2014/main" id="{474A6E63-6CF2-4066-87D5-31EB92B9A3F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374133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35173" name="Rectangle 5">
            <a:extLst>
              <a:ext uri="{FF2B5EF4-FFF2-40B4-BE49-F238E27FC236}">
                <a16:creationId xmlns:a16="http://schemas.microsoft.com/office/drawing/2014/main" id="{0999F315-BE5A-4475-9FC3-1FA655EBD29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74133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35174" name="Rectangle 6">
            <a:extLst>
              <a:ext uri="{FF2B5EF4-FFF2-40B4-BE49-F238E27FC236}">
                <a16:creationId xmlns:a16="http://schemas.microsoft.com/office/drawing/2014/main" id="{F6D6D1C9-7F9E-47C8-B5CA-8DB074A475C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92344" y="61055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3AA77E0-D2E2-41FA-A093-FF57E35EC93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32" name="Rectangle 17">
            <a:extLst>
              <a:ext uri="{FF2B5EF4-FFF2-40B4-BE49-F238E27FC236}">
                <a16:creationId xmlns:a16="http://schemas.microsoft.com/office/drawing/2014/main" id="{4306D1D8-C578-41AC-B191-A3E6780182E6}"/>
              </a:ext>
            </a:extLst>
          </p:cNvPr>
          <p:cNvSpPr>
            <a:spLocks noChangeArrowheads="1"/>
          </p:cNvSpPr>
          <p:nvPr userDrawn="1"/>
        </p:nvSpPr>
        <p:spPr bwMode="gray">
          <a:xfrm flipV="1">
            <a:off x="23664" y="956011"/>
            <a:ext cx="12144671" cy="45719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zh-CN" sz="240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C0604D2-143F-4C90-8782-1C6B029460D4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5322" y="260648"/>
            <a:ext cx="2847193" cy="48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041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 b="1" kern="1200" baseline="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黑体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  <a:cs typeface="黑体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  <a:cs typeface="黑体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  <a:cs typeface="黑体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  <a:cs typeface="黑体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3366FF"/>
        </a:buClr>
        <a:buSzPct val="75000"/>
        <a:buFont typeface="Wingdings" panose="05000000000000000000" pitchFamily="2" charset="2"/>
        <a:buChar char="ª"/>
        <a:defRPr kumimoji="1" sz="3200" kern="1200" baseline="0">
          <a:solidFill>
            <a:schemeClr val="tx1"/>
          </a:solidFill>
          <a:latin typeface="+mn-lt"/>
          <a:ea typeface="+mn-ea"/>
          <a:cs typeface="黑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80000"/>
        <a:buFont typeface="Wingdings" panose="05000000000000000000" pitchFamily="2" charset="2"/>
        <a:buChar char="Ø"/>
        <a:defRPr kumimoji="1" sz="2600" kern="1200" baseline="0">
          <a:solidFill>
            <a:schemeClr val="tx1"/>
          </a:solidFill>
          <a:latin typeface="Arial" panose="020B0604020202020204" pitchFamily="34" charset="0"/>
          <a:ea typeface="+mn-ea"/>
          <a:cs typeface="黑体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sz="2200" b="1" kern="1200" baseline="0">
          <a:solidFill>
            <a:schemeClr val="tx1"/>
          </a:solidFill>
          <a:latin typeface="Comic Sans MS" panose="030F0702030302020204" pitchFamily="66" charset="0"/>
          <a:ea typeface="楷体_GB2312" pitchFamily="49" charset="-122"/>
          <a:cs typeface="楷体_GB2312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宋体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249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0"/>
            <a:ext cx="11480800" cy="908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512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908720"/>
            <a:ext cx="11480800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r>
              <a:rPr lang="en-US" altLang="en-US"/>
              <a:t>Juan Gómez Luna Peking University. Beijing, September 7, 2015 </a:t>
            </a:r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Garamond" pitchFamily="18" charset="0"/>
              </a:defRPr>
            </a:lvl1pPr>
          </a:lstStyle>
          <a:p>
            <a:fld id="{6F400BD0-49BF-48FC-8114-37C1D4F5AB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0360" name="Line 1032"/>
          <p:cNvSpPr>
            <a:spLocks noChangeShapeType="1"/>
          </p:cNvSpPr>
          <p:nvPr/>
        </p:nvSpPr>
        <p:spPr bwMode="auto">
          <a:xfrm>
            <a:off x="304800" y="6381328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1800"/>
          </a:p>
        </p:txBody>
      </p:sp>
      <p:sp>
        <p:nvSpPr>
          <p:cNvPr id="100361" name="Line 1033"/>
          <p:cNvSpPr>
            <a:spLocks noChangeShapeType="1"/>
          </p:cNvSpPr>
          <p:nvPr/>
        </p:nvSpPr>
        <p:spPr bwMode="auto">
          <a:xfrm>
            <a:off x="304800" y="914400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22073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2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8" name="Rectangle 4">
            <a:extLst>
              <a:ext uri="{FF2B5EF4-FFF2-40B4-BE49-F238E27FC236}">
                <a16:creationId xmlns:a16="http://schemas.microsoft.com/office/drawing/2014/main" id="{47AFAB29-ADF9-4130-9555-368985D470D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38376" y="1061470"/>
            <a:ext cx="9913361" cy="1541761"/>
          </a:xfrm>
        </p:spPr>
        <p:txBody>
          <a:bodyPr/>
          <a:lstStyle/>
          <a:p>
            <a:pPr>
              <a:defRPr/>
            </a:pPr>
            <a:r>
              <a:rPr lang="en-US" altLang="zh-CN" sz="4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ZB</a:t>
            </a:r>
            <a:r>
              <a:rPr lang="zh-CN" altLang="en-US" sz="4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级海量冷数据存储架构及高效存储管理系统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790344AC-5591-4281-8101-EDA4D689E30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015609" y="2954537"/>
            <a:ext cx="8351837" cy="1656533"/>
          </a:xfrm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zh-CN" altLang="en-US" sz="2400" dirty="0">
                <a:solidFill>
                  <a:srgbClr val="990033"/>
                </a:solidFill>
                <a:latin typeface="+mn-ea"/>
              </a:rPr>
              <a:t>曹强</a:t>
            </a:r>
            <a:endParaRPr lang="en-US" altLang="zh-CN" sz="2400" dirty="0">
              <a:solidFill>
                <a:srgbClr val="990033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数据高效存储与计算实验室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信息存储教育重点实验室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武汉光电国家研究中心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华中科技大学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>
                <a:solidFill>
                  <a:schemeClr val="tx1"/>
                </a:solidFill>
                <a:latin typeface="+mn-ea"/>
              </a:rPr>
              <a:t>2025.9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49EC6CE-9F32-473A-B455-F025E5ED41D1}"/>
              </a:ext>
            </a:extLst>
          </p:cNvPr>
          <p:cNvGrpSpPr/>
          <p:nvPr/>
        </p:nvGrpSpPr>
        <p:grpSpPr>
          <a:xfrm>
            <a:off x="3759258" y="5652803"/>
            <a:ext cx="2471793" cy="642561"/>
            <a:chOff x="3934305" y="5834110"/>
            <a:chExt cx="2545619" cy="661753"/>
          </a:xfrm>
        </p:grpSpPr>
        <p:pic>
          <p:nvPicPr>
            <p:cNvPr id="5" name="Picture 13">
              <a:extLst>
                <a:ext uri="{FF2B5EF4-FFF2-40B4-BE49-F238E27FC236}">
                  <a16:creationId xmlns:a16="http://schemas.microsoft.com/office/drawing/2014/main" id="{49AD8543-B3ED-4A3B-BBF4-54186D9BE1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4305" y="5834110"/>
              <a:ext cx="1135747" cy="661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61C33AC6-345E-4B03-9DC6-3CA2AFE93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75920" y="5834110"/>
              <a:ext cx="1104004" cy="661753"/>
            </a:xfrm>
            <a:prstGeom prst="rect">
              <a:avLst/>
            </a:prstGeom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C0CC6D52-2DE9-4B3D-BC40-0D008E9D8D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8048" y="5733256"/>
            <a:ext cx="2847193" cy="481653"/>
          </a:xfrm>
          <a:prstGeom prst="rect">
            <a:avLst/>
          </a:prstGeom>
        </p:spPr>
      </p:pic>
    </p:spTree>
  </p:cSld>
  <p:clrMapOvr>
    <a:masterClrMapping/>
  </p:clrMapOvr>
  <p:transition spd="slow" advTm="6818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71DBA-B0F1-413F-9B46-899A8747B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67085B2-9CE0-4836-B77C-EE09994ACF7D}"/>
              </a:ext>
            </a:extLst>
          </p:cNvPr>
          <p:cNvSpPr/>
          <p:nvPr/>
        </p:nvSpPr>
        <p:spPr>
          <a:xfrm>
            <a:off x="3035650" y="2306140"/>
            <a:ext cx="1095269" cy="622997"/>
          </a:xfrm>
          <a:prstGeom prst="rect">
            <a:avLst/>
          </a:prstGeom>
          <a:solidFill>
            <a:srgbClr val="FF6600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en-US" sz="1800" kern="0" dirty="0">
              <a:solidFill>
                <a:srgbClr val="FFFFFF"/>
              </a:solidFill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E148F0-2AF6-4D5A-9F12-AA4B9BFC516E}"/>
              </a:ext>
            </a:extLst>
          </p:cNvPr>
          <p:cNvSpPr/>
          <p:nvPr/>
        </p:nvSpPr>
        <p:spPr>
          <a:xfrm>
            <a:off x="2975144" y="2363514"/>
            <a:ext cx="1095269" cy="622997"/>
          </a:xfrm>
          <a:prstGeom prst="rect">
            <a:avLst/>
          </a:prstGeom>
          <a:solidFill>
            <a:srgbClr val="FF6600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en-US" sz="1800" kern="0" dirty="0">
              <a:solidFill>
                <a:srgbClr val="FFFFFF"/>
              </a:solidFill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62E19B-09B8-45D7-87F3-DBC455903459}"/>
              </a:ext>
            </a:extLst>
          </p:cNvPr>
          <p:cNvSpPr/>
          <p:nvPr/>
        </p:nvSpPr>
        <p:spPr>
          <a:xfrm>
            <a:off x="2914638" y="2420888"/>
            <a:ext cx="1095269" cy="622997"/>
          </a:xfrm>
          <a:prstGeom prst="rect">
            <a:avLst/>
          </a:prstGeom>
          <a:solidFill>
            <a:srgbClr val="FF6600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800" kern="0">
                <a:solidFill>
                  <a:srgbClr val="FFFFFF"/>
                </a:solidFill>
                <a:latin typeface="Calibri" panose="020F0502020204030204" pitchFamily="34" charset="0"/>
                <a:ea typeface="黑体"/>
                <a:cs typeface="Calibri" panose="020F0502020204030204" pitchFamily="34" charset="0"/>
              </a:rPr>
              <a:t>元数据服务器</a:t>
            </a:r>
            <a:endParaRPr kumimoji="0" lang="en-US" sz="1800" kern="0" dirty="0">
              <a:solidFill>
                <a:srgbClr val="FFFFFF"/>
              </a:solidFill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A79CEB5-CB88-4571-94FC-3A860728F0EC}"/>
              </a:ext>
            </a:extLst>
          </p:cNvPr>
          <p:cNvSpPr/>
          <p:nvPr/>
        </p:nvSpPr>
        <p:spPr>
          <a:xfrm>
            <a:off x="1428019" y="1357271"/>
            <a:ext cx="725797" cy="491337"/>
          </a:xfrm>
          <a:prstGeom prst="rect">
            <a:avLst/>
          </a:prstGeom>
          <a:solidFill>
            <a:srgbClr val="92D050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1B9F8D0-324E-4730-94C9-1DB43AEDC194}"/>
              </a:ext>
            </a:extLst>
          </p:cNvPr>
          <p:cNvSpPr/>
          <p:nvPr/>
        </p:nvSpPr>
        <p:spPr>
          <a:xfrm>
            <a:off x="1304858" y="1452909"/>
            <a:ext cx="725797" cy="491337"/>
          </a:xfrm>
          <a:prstGeom prst="rect">
            <a:avLst/>
          </a:prstGeom>
          <a:solidFill>
            <a:srgbClr val="92D050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E014B0F8-3889-4F3E-8549-EEF605C3B6DD}"/>
              </a:ext>
            </a:extLst>
          </p:cNvPr>
          <p:cNvSpPr/>
          <p:nvPr/>
        </p:nvSpPr>
        <p:spPr>
          <a:xfrm>
            <a:off x="1163536" y="1555275"/>
            <a:ext cx="725797" cy="491337"/>
          </a:xfrm>
          <a:prstGeom prst="rect">
            <a:avLst/>
          </a:prstGeom>
          <a:solidFill>
            <a:srgbClr val="92D050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179DB0DA-4A7C-4AC2-9FCC-B51D50AC9598}"/>
              </a:ext>
            </a:extLst>
          </p:cNvPr>
          <p:cNvSpPr/>
          <p:nvPr/>
        </p:nvSpPr>
        <p:spPr>
          <a:xfrm>
            <a:off x="1040375" y="1650913"/>
            <a:ext cx="725797" cy="491337"/>
          </a:xfrm>
          <a:prstGeom prst="rect">
            <a:avLst/>
          </a:prstGeom>
          <a:solidFill>
            <a:srgbClr val="92D050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E8859543-8FB4-4CBD-B57D-DF8802C87199}"/>
              </a:ext>
            </a:extLst>
          </p:cNvPr>
          <p:cNvSpPr/>
          <p:nvPr/>
        </p:nvSpPr>
        <p:spPr>
          <a:xfrm>
            <a:off x="899053" y="1785819"/>
            <a:ext cx="725797" cy="491337"/>
          </a:xfrm>
          <a:prstGeom prst="rect">
            <a:avLst/>
          </a:prstGeom>
          <a:solidFill>
            <a:srgbClr val="92D050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Calibri" panose="020F0502020204030204" pitchFamily="34" charset="0"/>
              </a:rPr>
              <a:t>客户端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BFBDFB67-7A1B-440D-99F6-761C426087A8}"/>
              </a:ext>
            </a:extLst>
          </p:cNvPr>
          <p:cNvSpPr/>
          <p:nvPr/>
        </p:nvSpPr>
        <p:spPr>
          <a:xfrm>
            <a:off x="1008900" y="3726240"/>
            <a:ext cx="1095269" cy="622997"/>
          </a:xfrm>
          <a:prstGeom prst="rect">
            <a:avLst/>
          </a:prstGeom>
          <a:solidFill>
            <a:srgbClr val="FFC000">
              <a:alpha val="41000"/>
            </a:srgbClr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9EDC8927-F8D7-4ED7-85B4-99E4877AB794}"/>
              </a:ext>
            </a:extLst>
          </p:cNvPr>
          <p:cNvSpPr/>
          <p:nvPr/>
        </p:nvSpPr>
        <p:spPr>
          <a:xfrm>
            <a:off x="951502" y="3815604"/>
            <a:ext cx="1095269" cy="622997"/>
          </a:xfrm>
          <a:prstGeom prst="rect">
            <a:avLst/>
          </a:prstGeom>
          <a:solidFill>
            <a:srgbClr val="FFC000">
              <a:alpha val="41000"/>
            </a:srgbClr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58538171-32F1-47D2-803B-8EA2C792F82F}"/>
              </a:ext>
            </a:extLst>
          </p:cNvPr>
          <p:cNvSpPr/>
          <p:nvPr/>
        </p:nvSpPr>
        <p:spPr>
          <a:xfrm>
            <a:off x="866287" y="3904968"/>
            <a:ext cx="1095269" cy="622997"/>
          </a:xfrm>
          <a:prstGeom prst="rect">
            <a:avLst/>
          </a:prstGeom>
          <a:solidFill>
            <a:srgbClr val="FFC000">
              <a:alpha val="41000"/>
            </a:srgbClr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92967538-8C49-4C09-A616-CDAE5F7E9B21}"/>
              </a:ext>
            </a:extLst>
          </p:cNvPr>
          <p:cNvSpPr/>
          <p:nvPr/>
        </p:nvSpPr>
        <p:spPr>
          <a:xfrm>
            <a:off x="795303" y="3982578"/>
            <a:ext cx="1095269" cy="622997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B229644C-2F23-4AA5-A4EF-80E22204F459}"/>
              </a:ext>
            </a:extLst>
          </p:cNvPr>
          <p:cNvSpPr/>
          <p:nvPr/>
        </p:nvSpPr>
        <p:spPr>
          <a:xfrm>
            <a:off x="737905" y="4071942"/>
            <a:ext cx="1095269" cy="622997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6071916-8866-4945-A96D-0F14C323E0C3}"/>
              </a:ext>
            </a:extLst>
          </p:cNvPr>
          <p:cNvSpPr/>
          <p:nvPr/>
        </p:nvSpPr>
        <p:spPr>
          <a:xfrm>
            <a:off x="655740" y="4173891"/>
            <a:ext cx="1095269" cy="622997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Calibri" panose="020F0502020204030204" pitchFamily="34" charset="0"/>
              </a:rPr>
              <a:t>数据节点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Calibri" panose="020F0502020204030204" pitchFamily="34" charset="0"/>
              </a:rPr>
              <a:t> (SN)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7FBE9178-AD00-461F-898E-9DC43114CBAF}"/>
              </a:ext>
            </a:extLst>
          </p:cNvPr>
          <p:cNvSpPr/>
          <p:nvPr/>
        </p:nvSpPr>
        <p:spPr>
          <a:xfrm>
            <a:off x="2537616" y="3726240"/>
            <a:ext cx="1095269" cy="622997"/>
          </a:xfrm>
          <a:prstGeom prst="rect">
            <a:avLst/>
          </a:prstGeom>
          <a:solidFill>
            <a:schemeClr val="accent1">
              <a:lumMod val="25000"/>
              <a:alpha val="48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en-US" sz="1800" kern="0" dirty="0">
              <a:solidFill>
                <a:srgbClr val="000000"/>
              </a:solidFill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03A34686-9E63-4625-AB55-5EDB62B876D0}"/>
              </a:ext>
            </a:extLst>
          </p:cNvPr>
          <p:cNvSpPr/>
          <p:nvPr/>
        </p:nvSpPr>
        <p:spPr>
          <a:xfrm>
            <a:off x="2480218" y="3815604"/>
            <a:ext cx="1095269" cy="622997"/>
          </a:xfrm>
          <a:prstGeom prst="rect">
            <a:avLst/>
          </a:prstGeom>
          <a:solidFill>
            <a:schemeClr val="accent1">
              <a:lumMod val="25000"/>
              <a:alpha val="48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en-US" sz="1800" kern="0" dirty="0">
              <a:solidFill>
                <a:srgbClr val="000000"/>
              </a:solidFill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5B22C2B7-CCFC-496B-8491-9C86196DA294}"/>
              </a:ext>
            </a:extLst>
          </p:cNvPr>
          <p:cNvSpPr/>
          <p:nvPr/>
        </p:nvSpPr>
        <p:spPr>
          <a:xfrm>
            <a:off x="2395003" y="3904968"/>
            <a:ext cx="1095269" cy="622997"/>
          </a:xfrm>
          <a:prstGeom prst="rect">
            <a:avLst/>
          </a:prstGeom>
          <a:solidFill>
            <a:schemeClr val="accent1">
              <a:lumMod val="25000"/>
              <a:alpha val="48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en-US" sz="1800" kern="0" dirty="0">
              <a:solidFill>
                <a:srgbClr val="000000"/>
              </a:solidFill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64A726E8-138B-4429-841E-3FA46E6AA458}"/>
              </a:ext>
            </a:extLst>
          </p:cNvPr>
          <p:cNvSpPr/>
          <p:nvPr/>
        </p:nvSpPr>
        <p:spPr>
          <a:xfrm>
            <a:off x="2324019" y="3982578"/>
            <a:ext cx="1095269" cy="622997"/>
          </a:xfrm>
          <a:prstGeom prst="rect">
            <a:avLst/>
          </a:prstGeom>
          <a:solidFill>
            <a:schemeClr val="accent1">
              <a:lumMod val="2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en-US" sz="1800" kern="0" dirty="0">
              <a:solidFill>
                <a:srgbClr val="000000"/>
              </a:solidFill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6E2FD3F7-62D9-4CF7-BDAD-5D51712CCE56}"/>
              </a:ext>
            </a:extLst>
          </p:cNvPr>
          <p:cNvSpPr/>
          <p:nvPr/>
        </p:nvSpPr>
        <p:spPr>
          <a:xfrm>
            <a:off x="2266621" y="4071942"/>
            <a:ext cx="1095269" cy="622997"/>
          </a:xfrm>
          <a:prstGeom prst="rect">
            <a:avLst/>
          </a:prstGeom>
          <a:solidFill>
            <a:schemeClr val="accent1">
              <a:lumMod val="2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en-US" sz="1800" kern="0" dirty="0">
              <a:solidFill>
                <a:srgbClr val="000000"/>
              </a:solidFill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1AF50023-B3DD-4204-A32D-0E95BDF8D8F6}"/>
              </a:ext>
            </a:extLst>
          </p:cNvPr>
          <p:cNvSpPr/>
          <p:nvPr/>
        </p:nvSpPr>
        <p:spPr>
          <a:xfrm>
            <a:off x="2184456" y="4173891"/>
            <a:ext cx="1095269" cy="622997"/>
          </a:xfrm>
          <a:prstGeom prst="rect">
            <a:avLst/>
          </a:prstGeom>
          <a:solidFill>
            <a:schemeClr val="accent1">
              <a:lumMod val="2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800" kern="0" dirty="0">
                <a:solidFill>
                  <a:schemeClr val="bg1"/>
                </a:solidFill>
                <a:latin typeface="Calibri" panose="020F0502020204030204" pitchFamily="34" charset="0"/>
                <a:ea typeface="黑体"/>
                <a:cs typeface="Calibri" panose="020F0502020204030204" pitchFamily="34" charset="0"/>
              </a:rPr>
              <a:t>光盘库</a:t>
            </a:r>
            <a:r>
              <a:rPr kumimoji="0" lang="en-US" altLang="zh-CN" sz="1800" kern="0" dirty="0" err="1">
                <a:solidFill>
                  <a:schemeClr val="bg1"/>
                </a:solidFill>
                <a:latin typeface="Calibri" panose="020F0502020204030204" pitchFamily="34" charset="0"/>
                <a:ea typeface="黑体"/>
                <a:cs typeface="Calibri" panose="020F0502020204030204" pitchFamily="34" charset="0"/>
              </a:rPr>
              <a:t>DISCLib</a:t>
            </a:r>
            <a:r>
              <a:rPr kumimoji="0" lang="en-US" altLang="zh-CN" sz="1800" kern="0" dirty="0">
                <a:solidFill>
                  <a:srgbClr val="000000"/>
                </a:solidFill>
                <a:latin typeface="Calibri" panose="020F0502020204030204" pitchFamily="34" charset="0"/>
                <a:ea typeface="黑体"/>
                <a:cs typeface="Calibri" panose="020F0502020204030204" pitchFamily="34" charset="0"/>
              </a:rPr>
              <a:t>)</a:t>
            </a:r>
            <a:endParaRPr kumimoji="0" lang="en-US" sz="1800" kern="0" dirty="0">
              <a:solidFill>
                <a:srgbClr val="000000"/>
              </a:solidFill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FACC4338-FDEE-4AB6-AA61-E8C35BA738BB}"/>
              </a:ext>
            </a:extLst>
          </p:cNvPr>
          <p:cNvSpPr/>
          <p:nvPr/>
        </p:nvSpPr>
        <p:spPr>
          <a:xfrm>
            <a:off x="509707" y="3628705"/>
            <a:ext cx="3356457" cy="1754837"/>
          </a:xfrm>
          <a:prstGeom prst="rect">
            <a:avLst/>
          </a:prstGeom>
          <a:noFill/>
          <a:ln w="19050">
            <a:solidFill>
              <a:srgbClr val="7889FB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lin Sans FB"/>
              <a:ea typeface="黑体"/>
              <a:cs typeface="+mn-cs"/>
            </a:endParaRPr>
          </a:p>
        </p:txBody>
      </p:sp>
      <p:sp>
        <p:nvSpPr>
          <p:cNvPr id="25" name="箭头: 上下 24">
            <a:extLst>
              <a:ext uri="{FF2B5EF4-FFF2-40B4-BE49-F238E27FC236}">
                <a16:creationId xmlns:a16="http://schemas.microsoft.com/office/drawing/2014/main" id="{B5BEA800-9A8A-409C-8A82-B2F5ACA2DE7B}"/>
              </a:ext>
            </a:extLst>
          </p:cNvPr>
          <p:cNvSpPr>
            <a:spLocks noChangeAspect="1"/>
          </p:cNvSpPr>
          <p:nvPr/>
        </p:nvSpPr>
        <p:spPr bwMode="auto">
          <a:xfrm>
            <a:off x="1464902" y="2447694"/>
            <a:ext cx="408796" cy="1080000"/>
          </a:xfrm>
          <a:prstGeom prst="upDownArrow">
            <a:avLst>
              <a:gd name="adj1" fmla="val 41667"/>
              <a:gd name="adj2" fmla="val 50000"/>
            </a:avLst>
          </a:prstGeom>
          <a:ln w="25400">
            <a:solidFill>
              <a:srgbClr val="7030A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276225" marR="0" indent="-27622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buNone/>
            </a:pPr>
            <a:endParaRPr kumimoji="1" lang="zh-CN" altLang="en-US" sz="2000" b="0" i="0" u="none" strike="noStrike" cap="none" normalizeH="0" baseline="0">
              <a:ln>
                <a:noFill/>
              </a:ln>
              <a:solidFill>
                <a:srgbClr val="FF3300"/>
              </a:solidFill>
              <a:effectLst/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6" name="箭头: 上下 25">
            <a:extLst>
              <a:ext uri="{FF2B5EF4-FFF2-40B4-BE49-F238E27FC236}">
                <a16:creationId xmlns:a16="http://schemas.microsoft.com/office/drawing/2014/main" id="{225CA24C-AE9A-4831-A7CD-55C070F62166}"/>
              </a:ext>
            </a:extLst>
          </p:cNvPr>
          <p:cNvSpPr/>
          <p:nvPr/>
        </p:nvSpPr>
        <p:spPr bwMode="auto">
          <a:xfrm rot="19034505">
            <a:off x="2427406" y="1893425"/>
            <a:ext cx="292135" cy="695745"/>
          </a:xfrm>
          <a:prstGeom prst="upDownArrow">
            <a:avLst/>
          </a:prstGeom>
          <a:ln w="25400">
            <a:solidFill>
              <a:srgbClr val="7030A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276225" marR="0" indent="-27622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buNone/>
            </a:pPr>
            <a:endParaRPr kumimoji="1" lang="zh-CN" altLang="en-US" sz="2000" b="0" i="0" u="none" strike="noStrike" cap="none" normalizeH="0" baseline="0">
              <a:ln>
                <a:noFill/>
              </a:ln>
              <a:solidFill>
                <a:srgbClr val="FF3300"/>
              </a:solidFill>
              <a:effectLst/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7" name="箭头: 下弧形 26">
            <a:extLst>
              <a:ext uri="{FF2B5EF4-FFF2-40B4-BE49-F238E27FC236}">
                <a16:creationId xmlns:a16="http://schemas.microsoft.com/office/drawing/2014/main" id="{185E61F0-4607-4F7B-AB2B-E8428B4437F2}"/>
              </a:ext>
            </a:extLst>
          </p:cNvPr>
          <p:cNvSpPr/>
          <p:nvPr/>
        </p:nvSpPr>
        <p:spPr bwMode="auto">
          <a:xfrm>
            <a:off x="1516472" y="4821973"/>
            <a:ext cx="936104" cy="453678"/>
          </a:xfrm>
          <a:prstGeom prst="curvedUpArrow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none" lIns="91440" tIns="45720" rIns="91440" bIns="45720" numCol="1" rtlCol="0" anchor="t" anchorCtr="0" compatLnSpc="1">
            <a:spAutoFit/>
          </a:bodyPr>
          <a:lstStyle/>
          <a:p>
            <a:pPr marL="276225" marR="0" indent="-27622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buNone/>
            </a:pPr>
            <a:endParaRPr kumimoji="1" lang="zh-CN" altLang="en-US" sz="2000" b="0" i="0" u="none" strike="noStrike" cap="none" normalizeH="0" baseline="0">
              <a:ln>
                <a:noFill/>
              </a:ln>
              <a:solidFill>
                <a:srgbClr val="FF3300"/>
              </a:solidFill>
              <a:effectLst/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8" name="Rectangle 9">
            <a:extLst>
              <a:ext uri="{FF2B5EF4-FFF2-40B4-BE49-F238E27FC236}">
                <a16:creationId xmlns:a16="http://schemas.microsoft.com/office/drawing/2014/main" id="{C843BF9F-41A3-47A4-868E-26FB9FA077F2}"/>
              </a:ext>
            </a:extLst>
          </p:cNvPr>
          <p:cNvSpPr/>
          <p:nvPr/>
        </p:nvSpPr>
        <p:spPr>
          <a:xfrm>
            <a:off x="2881519" y="1914817"/>
            <a:ext cx="3665940" cy="1228624"/>
          </a:xfrm>
          <a:prstGeom prst="rect">
            <a:avLst/>
          </a:prstGeom>
          <a:noFill/>
          <a:ln w="19050">
            <a:solidFill>
              <a:srgbClr val="7889FB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lin Sans FB"/>
              <a:ea typeface="黑体"/>
              <a:cs typeface="+mn-cs"/>
            </a:endParaRPr>
          </a:p>
        </p:txBody>
      </p:sp>
      <p:sp>
        <p:nvSpPr>
          <p:cNvPr id="29" name="Rectangle 9">
            <a:extLst>
              <a:ext uri="{FF2B5EF4-FFF2-40B4-BE49-F238E27FC236}">
                <a16:creationId xmlns:a16="http://schemas.microsoft.com/office/drawing/2014/main" id="{486A1AE1-1613-46E1-A785-DF2FE0604854}"/>
              </a:ext>
            </a:extLst>
          </p:cNvPr>
          <p:cNvSpPr/>
          <p:nvPr/>
        </p:nvSpPr>
        <p:spPr>
          <a:xfrm>
            <a:off x="818801" y="1285510"/>
            <a:ext cx="1415266" cy="1048779"/>
          </a:xfrm>
          <a:prstGeom prst="rect">
            <a:avLst/>
          </a:prstGeom>
          <a:noFill/>
          <a:ln w="19050">
            <a:solidFill>
              <a:srgbClr val="7889FB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lin Sans FB"/>
              <a:ea typeface="黑体"/>
              <a:cs typeface="+mn-cs"/>
            </a:endParaRP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65B7793E-39B1-4C42-929A-B3B32F09C44F}"/>
              </a:ext>
            </a:extLst>
          </p:cNvPr>
          <p:cNvSpPr txBox="1"/>
          <p:nvPr/>
        </p:nvSpPr>
        <p:spPr>
          <a:xfrm rot="8242526">
            <a:off x="1711930" y="2010376"/>
            <a:ext cx="5760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Calibri" panose="020F0502020204030204" pitchFamily="34" charset="0"/>
              </a:rPr>
              <a:t>……</a:t>
            </a:r>
          </a:p>
        </p:txBody>
      </p:sp>
      <p:sp>
        <p:nvSpPr>
          <p:cNvPr id="31" name="TextBox 11">
            <a:extLst>
              <a:ext uri="{FF2B5EF4-FFF2-40B4-BE49-F238E27FC236}">
                <a16:creationId xmlns:a16="http://schemas.microsoft.com/office/drawing/2014/main" id="{836103CF-64D6-4C9C-AE17-C2BC6980E957}"/>
              </a:ext>
            </a:extLst>
          </p:cNvPr>
          <p:cNvSpPr txBox="1"/>
          <p:nvPr/>
        </p:nvSpPr>
        <p:spPr>
          <a:xfrm rot="8242526">
            <a:off x="1677962" y="4580854"/>
            <a:ext cx="5760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Calibri" panose="020F0502020204030204" pitchFamily="34" charset="0"/>
              </a:rPr>
              <a:t>……</a:t>
            </a: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37AE79FB-F9E9-4440-8011-C9DB4C2539E2}"/>
              </a:ext>
            </a:extLst>
          </p:cNvPr>
          <p:cNvSpPr txBox="1"/>
          <p:nvPr/>
        </p:nvSpPr>
        <p:spPr>
          <a:xfrm rot="8242526">
            <a:off x="3322291" y="4551381"/>
            <a:ext cx="576064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Calibri" panose="020F0502020204030204" pitchFamily="34" charset="0"/>
              </a:rPr>
              <a:t>……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2400AB9-2777-49BC-9004-54596707A829}"/>
              </a:ext>
            </a:extLst>
          </p:cNvPr>
          <p:cNvSpPr txBox="1"/>
          <p:nvPr/>
        </p:nvSpPr>
        <p:spPr>
          <a:xfrm>
            <a:off x="2319862" y="1631377"/>
            <a:ext cx="510718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文件元数据操作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A82AC7D-194E-430D-A3A9-CC47FB79EAC6}"/>
              </a:ext>
            </a:extLst>
          </p:cNvPr>
          <p:cNvSpPr txBox="1"/>
          <p:nvPr/>
        </p:nvSpPr>
        <p:spPr>
          <a:xfrm>
            <a:off x="918795" y="2615584"/>
            <a:ext cx="471732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文件数据操作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Straight Arrow Connector 83">
            <a:extLst>
              <a:ext uri="{FF2B5EF4-FFF2-40B4-BE49-F238E27FC236}">
                <a16:creationId xmlns:a16="http://schemas.microsoft.com/office/drawing/2014/main" id="{DAF077D5-825E-4649-9C86-969A2918CEB7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2187936" y="3060323"/>
            <a:ext cx="1099911" cy="568382"/>
          </a:xfrm>
          <a:prstGeom prst="straightConnector1">
            <a:avLst/>
          </a:prstGeom>
          <a:noFill/>
          <a:ln w="38100" cap="flat" cmpd="sng" algn="ctr">
            <a:solidFill>
              <a:srgbClr val="9F2936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36" name="Rounded Rectangle 101">
            <a:extLst>
              <a:ext uri="{FF2B5EF4-FFF2-40B4-BE49-F238E27FC236}">
                <a16:creationId xmlns:a16="http://schemas.microsoft.com/office/drawing/2014/main" id="{56E0A4C5-636D-4367-AC74-EE8D219DD721}"/>
              </a:ext>
            </a:extLst>
          </p:cNvPr>
          <p:cNvSpPr/>
          <p:nvPr/>
        </p:nvSpPr>
        <p:spPr>
          <a:xfrm>
            <a:off x="4188278" y="1970140"/>
            <a:ext cx="2239181" cy="110039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12700" cap="flat" cmpd="sng" algn="ctr">
            <a:solidFill>
              <a:srgbClr val="9F2936"/>
            </a:solidFill>
            <a:prstDash val="solid"/>
            <a:miter lim="800000"/>
          </a:ln>
          <a:effectLst/>
        </p:spPr>
        <p:txBody>
          <a:bodyPr tIns="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文件命名空间管理</a:t>
            </a:r>
            <a:endParaRPr kumimoji="0" lang="en-G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+mn-ea"/>
              <a:cs typeface="+mn-cs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D000AE33-E240-4EDD-977E-8B6CC0D437D8}"/>
              </a:ext>
            </a:extLst>
          </p:cNvPr>
          <p:cNvSpPr/>
          <p:nvPr/>
        </p:nvSpPr>
        <p:spPr bwMode="auto">
          <a:xfrm>
            <a:off x="4288363" y="2284531"/>
            <a:ext cx="1662714" cy="719277"/>
          </a:xfrm>
          <a:prstGeom prst="roundRect">
            <a:avLst/>
          </a:prstGeom>
          <a:solidFill>
            <a:schemeClr val="accent6">
              <a:lumMod val="40000"/>
              <a:lumOff val="60000"/>
              <a:alpha val="20000"/>
            </a:schemeClr>
          </a:solidFill>
          <a:ln w="12700">
            <a:solidFill>
              <a:sysClr val="windowText" lastClr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Calibri" panose="020F0502020204030204" pitchFamily="34" charset="0"/>
              <a:ea typeface="黑体"/>
              <a:cs typeface="Calibri" panose="020F0502020204030204" pitchFamily="34" charset="0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78B88A5D-B3BB-4EDB-8D48-D08EADFBF8D7}"/>
              </a:ext>
            </a:extLst>
          </p:cNvPr>
          <p:cNvGrpSpPr/>
          <p:nvPr/>
        </p:nvGrpSpPr>
        <p:grpSpPr>
          <a:xfrm>
            <a:off x="4326268" y="2312858"/>
            <a:ext cx="1957778" cy="690950"/>
            <a:chOff x="4031916" y="2301175"/>
            <a:chExt cx="1564303" cy="690950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8217B150-C378-40F5-9D37-BA4F62C32C1E}"/>
                </a:ext>
              </a:extLst>
            </p:cNvPr>
            <p:cNvGrpSpPr/>
            <p:nvPr/>
          </p:nvGrpSpPr>
          <p:grpSpPr>
            <a:xfrm>
              <a:off x="4031916" y="2301175"/>
              <a:ext cx="1564303" cy="276999"/>
              <a:chOff x="4031916" y="2301175"/>
              <a:chExt cx="1564303" cy="276999"/>
            </a:xfrm>
          </p:grpSpPr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A8CE523D-4119-4B51-B5A2-9DB34ACA6B58}"/>
                  </a:ext>
                </a:extLst>
              </p:cNvPr>
              <p:cNvSpPr/>
              <p:nvPr/>
            </p:nvSpPr>
            <p:spPr>
              <a:xfrm>
                <a:off x="5033854" y="2321933"/>
                <a:ext cx="562365" cy="200241"/>
              </a:xfrm>
              <a:prstGeom prst="rect">
                <a:avLst/>
              </a:prstGeom>
              <a:solidFill>
                <a:srgbClr val="E7E6E6">
                  <a:lumMod val="9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17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B80691D9-DCD9-4C8B-BB82-2DAB707D3DC5}"/>
                  </a:ext>
                </a:extLst>
              </p:cNvPr>
              <p:cNvSpPr/>
              <p:nvPr/>
            </p:nvSpPr>
            <p:spPr>
              <a:xfrm>
                <a:off x="4031916" y="2321933"/>
                <a:ext cx="1001938" cy="200241"/>
              </a:xfrm>
              <a:prstGeom prst="rect">
                <a:avLst/>
              </a:prstGeom>
              <a:solidFill>
                <a:srgbClr val="70AD47">
                  <a:lumMod val="60000"/>
                  <a:lumOff val="4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17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FileName</a:t>
                </a: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FE0DCDEF-4961-4D5C-857D-73CBC0C49FC4}"/>
                  </a:ext>
                </a:extLst>
              </p:cNvPr>
              <p:cNvSpPr/>
              <p:nvPr/>
            </p:nvSpPr>
            <p:spPr>
              <a:xfrm>
                <a:off x="4987471" y="2301175"/>
                <a:ext cx="559358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121917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Inode</a:t>
                </a: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E4C56785-28C6-4856-9765-918830EA10AF}"/>
                </a:ext>
              </a:extLst>
            </p:cNvPr>
            <p:cNvGrpSpPr/>
            <p:nvPr/>
          </p:nvGrpSpPr>
          <p:grpSpPr>
            <a:xfrm>
              <a:off x="4031916" y="2514885"/>
              <a:ext cx="1564303" cy="276999"/>
              <a:chOff x="4031916" y="2301175"/>
              <a:chExt cx="1564303" cy="276999"/>
            </a:xfrm>
          </p:grpSpPr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F0BAB090-A114-4B44-8B02-3BEF8612D023}"/>
                  </a:ext>
                </a:extLst>
              </p:cNvPr>
              <p:cNvSpPr/>
              <p:nvPr/>
            </p:nvSpPr>
            <p:spPr>
              <a:xfrm>
                <a:off x="5033854" y="2321933"/>
                <a:ext cx="562365" cy="200241"/>
              </a:xfrm>
              <a:prstGeom prst="rect">
                <a:avLst/>
              </a:prstGeom>
              <a:solidFill>
                <a:srgbClr val="E7E6E6">
                  <a:lumMod val="9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17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ED0A11B0-9108-487F-9406-007800A8B895}"/>
                  </a:ext>
                </a:extLst>
              </p:cNvPr>
              <p:cNvSpPr/>
              <p:nvPr/>
            </p:nvSpPr>
            <p:spPr>
              <a:xfrm>
                <a:off x="4031916" y="2321933"/>
                <a:ext cx="1001938" cy="200241"/>
              </a:xfrm>
              <a:prstGeom prst="rect">
                <a:avLst/>
              </a:prstGeom>
              <a:solidFill>
                <a:srgbClr val="70AD47">
                  <a:lumMod val="60000"/>
                  <a:lumOff val="4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17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……..</a:t>
                </a:r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6BC5EE6A-65FA-40FC-81EB-EE43F2A60DD2}"/>
                  </a:ext>
                </a:extLst>
              </p:cNvPr>
              <p:cNvSpPr/>
              <p:nvPr/>
            </p:nvSpPr>
            <p:spPr>
              <a:xfrm>
                <a:off x="4987471" y="2301175"/>
                <a:ext cx="559358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121917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……</a:t>
                </a: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4720BA14-9531-4284-9394-CBA6309722A6}"/>
                </a:ext>
              </a:extLst>
            </p:cNvPr>
            <p:cNvGrpSpPr/>
            <p:nvPr/>
          </p:nvGrpSpPr>
          <p:grpSpPr>
            <a:xfrm>
              <a:off x="4031916" y="2715126"/>
              <a:ext cx="1564303" cy="276999"/>
              <a:chOff x="4031916" y="2301175"/>
              <a:chExt cx="1564303" cy="276999"/>
            </a:xfrm>
          </p:grpSpPr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1993EDB1-CA2E-413A-972F-73814934583F}"/>
                  </a:ext>
                </a:extLst>
              </p:cNvPr>
              <p:cNvSpPr/>
              <p:nvPr/>
            </p:nvSpPr>
            <p:spPr>
              <a:xfrm>
                <a:off x="5033854" y="2321933"/>
                <a:ext cx="562365" cy="200241"/>
              </a:xfrm>
              <a:prstGeom prst="rect">
                <a:avLst/>
              </a:prstGeom>
              <a:solidFill>
                <a:srgbClr val="E7E6E6">
                  <a:lumMod val="9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17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CF25BEFF-B169-48B9-858E-98F44362D667}"/>
                  </a:ext>
                </a:extLst>
              </p:cNvPr>
              <p:cNvSpPr/>
              <p:nvPr/>
            </p:nvSpPr>
            <p:spPr>
              <a:xfrm>
                <a:off x="4031916" y="2321933"/>
                <a:ext cx="1001938" cy="200241"/>
              </a:xfrm>
              <a:prstGeom prst="rect">
                <a:avLst/>
              </a:prstGeom>
              <a:solidFill>
                <a:srgbClr val="70AD47">
                  <a:lumMod val="60000"/>
                  <a:lumOff val="4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17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FileName</a:t>
                </a: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3C033E2E-6E44-4FA5-86A3-AAC07EB7ACBC}"/>
                  </a:ext>
                </a:extLst>
              </p:cNvPr>
              <p:cNvSpPr/>
              <p:nvPr/>
            </p:nvSpPr>
            <p:spPr>
              <a:xfrm>
                <a:off x="4987471" y="2301175"/>
                <a:ext cx="559358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121917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Inode</a:t>
                </a: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05EB416B-7D23-49DA-A2AD-EFBFE7F55BDB}"/>
              </a:ext>
            </a:extLst>
          </p:cNvPr>
          <p:cNvSpPr txBox="1"/>
          <p:nvPr/>
        </p:nvSpPr>
        <p:spPr>
          <a:xfrm>
            <a:off x="1706197" y="4911337"/>
            <a:ext cx="51071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光盘刻录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1107169-E95F-4DA7-A348-A46CE1B4B812}"/>
              </a:ext>
            </a:extLst>
          </p:cNvPr>
          <p:cNvSpPr txBox="1"/>
          <p:nvPr/>
        </p:nvSpPr>
        <p:spPr>
          <a:xfrm>
            <a:off x="3183422" y="3191113"/>
            <a:ext cx="68969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数据刻录</a:t>
            </a:r>
            <a:r>
              <a:rPr kumimoji="0" lang="en-US" altLang="zh-CN" sz="1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kumimoji="0" lang="zh-CN" altLang="en-US" sz="1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迁移后修改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4" name="Rounded Rectangle 139">
            <a:extLst>
              <a:ext uri="{FF2B5EF4-FFF2-40B4-BE49-F238E27FC236}">
                <a16:creationId xmlns:a16="http://schemas.microsoft.com/office/drawing/2014/main" id="{4174F6E0-9896-44D8-A0A6-1C4E5FB069CC}"/>
              </a:ext>
            </a:extLst>
          </p:cNvPr>
          <p:cNvSpPr/>
          <p:nvPr/>
        </p:nvSpPr>
        <p:spPr>
          <a:xfrm>
            <a:off x="3939550" y="3292613"/>
            <a:ext cx="7989007" cy="2653073"/>
          </a:xfrm>
          <a:prstGeom prst="roundRect">
            <a:avLst>
              <a:gd name="adj" fmla="val 9345"/>
            </a:avLst>
          </a:prstGeom>
          <a:solidFill>
            <a:srgbClr val="604878">
              <a:alpha val="20000"/>
            </a:srgbClr>
          </a:solidFill>
          <a:ln w="19050" cap="flat" cmpd="sng" algn="ctr">
            <a:solidFill>
              <a:srgbClr val="60487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+mn-ea"/>
              <a:cs typeface="+mn-cs"/>
            </a:endParaRPr>
          </a:p>
        </p:txBody>
      </p:sp>
      <p:sp>
        <p:nvSpPr>
          <p:cNvPr id="55" name="Rounded Rectangle 141">
            <a:extLst>
              <a:ext uri="{FF2B5EF4-FFF2-40B4-BE49-F238E27FC236}">
                <a16:creationId xmlns:a16="http://schemas.microsoft.com/office/drawing/2014/main" id="{29C06EEC-1D50-470A-82C5-D79061EAB5D1}"/>
              </a:ext>
            </a:extLst>
          </p:cNvPr>
          <p:cNvSpPr/>
          <p:nvPr/>
        </p:nvSpPr>
        <p:spPr>
          <a:xfrm>
            <a:off x="4057728" y="3471341"/>
            <a:ext cx="1240952" cy="2130228"/>
          </a:xfrm>
          <a:prstGeom prst="roundRect">
            <a:avLst/>
          </a:prstGeom>
          <a:solidFill>
            <a:srgbClr val="E3DED1">
              <a:lumMod val="25000"/>
            </a:srgbClr>
          </a:solidFill>
          <a:ln w="12700" cap="flat" cmpd="sng" algn="ctr">
            <a:solidFill>
              <a:srgbClr val="E3DED1">
                <a:lumMod val="2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存储资源管理</a:t>
            </a:r>
            <a:endParaRPr kumimoji="0" lang="en-G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+mn-ea"/>
              <a:cs typeface="+mn-cs"/>
            </a:endParaRPr>
          </a:p>
        </p:txBody>
      </p:sp>
      <p:sp>
        <p:nvSpPr>
          <p:cNvPr id="56" name="Rounded Rectangle 127">
            <a:extLst>
              <a:ext uri="{FF2B5EF4-FFF2-40B4-BE49-F238E27FC236}">
                <a16:creationId xmlns:a16="http://schemas.microsoft.com/office/drawing/2014/main" id="{2FBE4934-BAB1-4D08-B240-96F64E5F0A66}"/>
              </a:ext>
            </a:extLst>
          </p:cNvPr>
          <p:cNvSpPr/>
          <p:nvPr/>
        </p:nvSpPr>
        <p:spPr>
          <a:xfrm>
            <a:off x="5357743" y="3438092"/>
            <a:ext cx="3004680" cy="1137767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12700" cap="flat" cmpd="sng" algn="ctr">
            <a:solidFill>
              <a:srgbClr val="9F2936"/>
            </a:solidFill>
            <a:prstDash val="solid"/>
            <a:miter lim="800000"/>
          </a:ln>
          <a:effectLst/>
        </p:spPr>
        <p:txBody>
          <a:bodyPr tIns="0" rtlCol="0" anchor="t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1400" kern="0" dirty="0">
                <a:solidFill>
                  <a:prstClr val="white"/>
                </a:solidFill>
                <a:latin typeface="Cambria" panose="02040503050406030204" pitchFamily="18" charset="0"/>
                <a:ea typeface="+mn-ea"/>
              </a:rPr>
              <a:t>可用卷空间管理</a:t>
            </a:r>
            <a:endParaRPr kumimoji="0" lang="en-GR" sz="1400" kern="0" dirty="0">
              <a:solidFill>
                <a:prstClr val="white"/>
              </a:solidFill>
              <a:latin typeface="Cambria" panose="02040503050406030204" pitchFamily="18" charset="0"/>
              <a:ea typeface="+mn-ea"/>
            </a:endParaRPr>
          </a:p>
        </p:txBody>
      </p:sp>
      <p:grpSp>
        <p:nvGrpSpPr>
          <p:cNvPr id="57" name="Group 129">
            <a:extLst>
              <a:ext uri="{FF2B5EF4-FFF2-40B4-BE49-F238E27FC236}">
                <a16:creationId xmlns:a16="http://schemas.microsoft.com/office/drawing/2014/main" id="{1223A6E5-EF22-4894-B24A-BD7565F1A61D}"/>
              </a:ext>
            </a:extLst>
          </p:cNvPr>
          <p:cNvGrpSpPr/>
          <p:nvPr/>
        </p:nvGrpSpPr>
        <p:grpSpPr>
          <a:xfrm>
            <a:off x="5449605" y="3741038"/>
            <a:ext cx="2777308" cy="199094"/>
            <a:chOff x="1215403" y="2983971"/>
            <a:chExt cx="2871840" cy="501351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128AD2FF-95E4-4FF1-8DA1-B41B9A042723}"/>
                </a:ext>
              </a:extLst>
            </p:cNvPr>
            <p:cNvSpPr/>
            <p:nvPr/>
          </p:nvSpPr>
          <p:spPr>
            <a:xfrm>
              <a:off x="1215403" y="2983971"/>
              <a:ext cx="906641" cy="501351"/>
            </a:xfrm>
            <a:prstGeom prst="rect">
              <a:avLst/>
            </a:prstGeom>
            <a:solidFill>
              <a:srgbClr val="C19859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SN_ID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4E66A85-EBE6-4473-A05A-7972C7CB4444}"/>
                </a:ext>
              </a:extLst>
            </p:cNvPr>
            <p:cNvSpPr/>
            <p:nvPr/>
          </p:nvSpPr>
          <p:spPr>
            <a:xfrm>
              <a:off x="2129232" y="2988115"/>
              <a:ext cx="863686" cy="497207"/>
            </a:xfrm>
            <a:prstGeom prst="rect">
              <a:avLst/>
            </a:prstGeom>
            <a:solidFill>
              <a:srgbClr val="C19859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kern="0" dirty="0">
                  <a:solidFill>
                    <a:prstClr val="black"/>
                  </a:solidFill>
                  <a:latin typeface="Cambria" panose="02040503050406030204" pitchFamily="18" charset="0"/>
                  <a:ea typeface="+mn-ea"/>
                </a:rPr>
                <a:t>已用空间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1BF99659-F687-43B8-B876-03E8ADA64D3D}"/>
                </a:ext>
              </a:extLst>
            </p:cNvPr>
            <p:cNvSpPr/>
            <p:nvPr/>
          </p:nvSpPr>
          <p:spPr>
            <a:xfrm>
              <a:off x="2996561" y="2983971"/>
              <a:ext cx="863686" cy="497207"/>
            </a:xfrm>
            <a:prstGeom prst="rect">
              <a:avLst/>
            </a:prstGeom>
            <a:solidFill>
              <a:srgbClr val="C19859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可用容量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B27C8AD9-103F-46B8-997A-8144F24A3BF8}"/>
                </a:ext>
              </a:extLst>
            </p:cNvPr>
            <p:cNvSpPr/>
            <p:nvPr/>
          </p:nvSpPr>
          <p:spPr>
            <a:xfrm>
              <a:off x="3863891" y="2988116"/>
              <a:ext cx="223352" cy="493061"/>
            </a:xfrm>
            <a:prstGeom prst="rect">
              <a:avLst/>
            </a:prstGeom>
            <a:solidFill>
              <a:srgbClr val="C19859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58" name="Group 130">
            <a:extLst>
              <a:ext uri="{FF2B5EF4-FFF2-40B4-BE49-F238E27FC236}">
                <a16:creationId xmlns:a16="http://schemas.microsoft.com/office/drawing/2014/main" id="{627C6577-78D2-4BFA-97D5-24AF3BEFB1C7}"/>
              </a:ext>
            </a:extLst>
          </p:cNvPr>
          <p:cNvGrpSpPr/>
          <p:nvPr/>
        </p:nvGrpSpPr>
        <p:grpSpPr>
          <a:xfrm>
            <a:off x="5449605" y="3938673"/>
            <a:ext cx="2777308" cy="195803"/>
            <a:chOff x="1215403" y="3054741"/>
            <a:chExt cx="2871840" cy="430581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2614E8A7-A502-4C20-B608-1EF76FDEE03C}"/>
                </a:ext>
              </a:extLst>
            </p:cNvPr>
            <p:cNvSpPr/>
            <p:nvPr/>
          </p:nvSpPr>
          <p:spPr>
            <a:xfrm>
              <a:off x="1215403" y="3054967"/>
              <a:ext cx="913830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0x33A</a:t>
              </a: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8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706444EE-CDB3-45C0-B712-18A0B381F0B7}"/>
                </a:ext>
              </a:extLst>
            </p:cNvPr>
            <p:cNvSpPr/>
            <p:nvPr/>
          </p:nvSpPr>
          <p:spPr>
            <a:xfrm>
              <a:off x="2129236" y="3054967"/>
              <a:ext cx="863686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4E8542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50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4E8542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TB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4E8542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370DD0F3-B164-4495-9360-128E996F7922}"/>
                </a:ext>
              </a:extLst>
            </p:cNvPr>
            <p:cNvSpPr/>
            <p:nvPr/>
          </p:nvSpPr>
          <p:spPr>
            <a:xfrm>
              <a:off x="2996561" y="3054742"/>
              <a:ext cx="863686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50TB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CFEF475F-4FFA-4621-8C76-541C99054598}"/>
                </a:ext>
              </a:extLst>
            </p:cNvPr>
            <p:cNvSpPr/>
            <p:nvPr/>
          </p:nvSpPr>
          <p:spPr>
            <a:xfrm>
              <a:off x="3863891" y="3054741"/>
              <a:ext cx="223352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59" name="Group 130">
            <a:extLst>
              <a:ext uri="{FF2B5EF4-FFF2-40B4-BE49-F238E27FC236}">
                <a16:creationId xmlns:a16="http://schemas.microsoft.com/office/drawing/2014/main" id="{5879D569-A008-4B65-BA61-58FE3E302585}"/>
              </a:ext>
            </a:extLst>
          </p:cNvPr>
          <p:cNvGrpSpPr/>
          <p:nvPr/>
        </p:nvGrpSpPr>
        <p:grpSpPr>
          <a:xfrm>
            <a:off x="5449605" y="4141496"/>
            <a:ext cx="2777308" cy="195803"/>
            <a:chOff x="1215403" y="3054741"/>
            <a:chExt cx="2871840" cy="430581"/>
          </a:xfrm>
        </p:grpSpPr>
        <p:sp>
          <p:nvSpPr>
            <p:cNvPr id="128" name="Rectangle 131">
              <a:extLst>
                <a:ext uri="{FF2B5EF4-FFF2-40B4-BE49-F238E27FC236}">
                  <a16:creationId xmlns:a16="http://schemas.microsoft.com/office/drawing/2014/main" id="{A51D4BD2-0A94-439A-802C-D96049905A7B}"/>
                </a:ext>
              </a:extLst>
            </p:cNvPr>
            <p:cNvSpPr/>
            <p:nvPr/>
          </p:nvSpPr>
          <p:spPr>
            <a:xfrm>
              <a:off x="1215403" y="3054967"/>
              <a:ext cx="913830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0x33A9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29" name="Rectangle 132">
              <a:extLst>
                <a:ext uri="{FF2B5EF4-FFF2-40B4-BE49-F238E27FC236}">
                  <a16:creationId xmlns:a16="http://schemas.microsoft.com/office/drawing/2014/main" id="{97CC1723-5EB5-4645-A1EF-717AF6311CEC}"/>
                </a:ext>
              </a:extLst>
            </p:cNvPr>
            <p:cNvSpPr/>
            <p:nvPr/>
          </p:nvSpPr>
          <p:spPr>
            <a:xfrm>
              <a:off x="2129236" y="3054967"/>
              <a:ext cx="863686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4E8542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0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4E8542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TB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4E8542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30" name="Rectangle 133">
              <a:extLst>
                <a:ext uri="{FF2B5EF4-FFF2-40B4-BE49-F238E27FC236}">
                  <a16:creationId xmlns:a16="http://schemas.microsoft.com/office/drawing/2014/main" id="{A8347E37-A8A1-48DE-A317-80997D46B7D7}"/>
                </a:ext>
              </a:extLst>
            </p:cNvPr>
            <p:cNvSpPr/>
            <p:nvPr/>
          </p:nvSpPr>
          <p:spPr>
            <a:xfrm>
              <a:off x="2996561" y="3054742"/>
              <a:ext cx="863686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100TB</a:t>
              </a:r>
              <a:endParaRPr kumimoji="0" lang="en-GR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31" name="Rectangle 134">
              <a:extLst>
                <a:ext uri="{FF2B5EF4-FFF2-40B4-BE49-F238E27FC236}">
                  <a16:creationId xmlns:a16="http://schemas.microsoft.com/office/drawing/2014/main" id="{FC2267F8-B657-4290-9053-4492CDA3C970}"/>
                </a:ext>
              </a:extLst>
            </p:cNvPr>
            <p:cNvSpPr/>
            <p:nvPr/>
          </p:nvSpPr>
          <p:spPr>
            <a:xfrm>
              <a:off x="3863891" y="3054741"/>
              <a:ext cx="223352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60" name="Group 130">
            <a:extLst>
              <a:ext uri="{FF2B5EF4-FFF2-40B4-BE49-F238E27FC236}">
                <a16:creationId xmlns:a16="http://schemas.microsoft.com/office/drawing/2014/main" id="{875D7F26-B2DF-4B34-8CED-B637FAB4A858}"/>
              </a:ext>
            </a:extLst>
          </p:cNvPr>
          <p:cNvGrpSpPr/>
          <p:nvPr/>
        </p:nvGrpSpPr>
        <p:grpSpPr>
          <a:xfrm>
            <a:off x="5449605" y="4330654"/>
            <a:ext cx="2777308" cy="195803"/>
            <a:chOff x="1215403" y="3054741"/>
            <a:chExt cx="2871840" cy="430581"/>
          </a:xfrm>
        </p:grpSpPr>
        <p:sp>
          <p:nvSpPr>
            <p:cNvPr id="124" name="Rectangle 131">
              <a:extLst>
                <a:ext uri="{FF2B5EF4-FFF2-40B4-BE49-F238E27FC236}">
                  <a16:creationId xmlns:a16="http://schemas.microsoft.com/office/drawing/2014/main" id="{EFC52A16-71A7-426D-B576-32D97155C4A5}"/>
                </a:ext>
              </a:extLst>
            </p:cNvPr>
            <p:cNvSpPr/>
            <p:nvPr/>
          </p:nvSpPr>
          <p:spPr>
            <a:xfrm>
              <a:off x="1215403" y="3054967"/>
              <a:ext cx="913830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kern="0">
                  <a:solidFill>
                    <a:srgbClr val="9F2936"/>
                  </a:solidFill>
                  <a:latin typeface="Cambria" panose="02040503050406030204" pitchFamily="18" charset="0"/>
                  <a:ea typeface="+mn-ea"/>
                </a:rPr>
                <a:t>…………..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25" name="Rectangle 132">
              <a:extLst>
                <a:ext uri="{FF2B5EF4-FFF2-40B4-BE49-F238E27FC236}">
                  <a16:creationId xmlns:a16="http://schemas.microsoft.com/office/drawing/2014/main" id="{E5250AE8-D38C-4D25-836C-13E16FE64F71}"/>
                </a:ext>
              </a:extLst>
            </p:cNvPr>
            <p:cNvSpPr/>
            <p:nvPr/>
          </p:nvSpPr>
          <p:spPr>
            <a:xfrm>
              <a:off x="2129236" y="3054967"/>
              <a:ext cx="863686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4E8542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……….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4E8542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26" name="Rectangle 133">
              <a:extLst>
                <a:ext uri="{FF2B5EF4-FFF2-40B4-BE49-F238E27FC236}">
                  <a16:creationId xmlns:a16="http://schemas.microsoft.com/office/drawing/2014/main" id="{A317B7F6-F0A8-4203-AD88-824D5DC2D231}"/>
                </a:ext>
              </a:extLst>
            </p:cNvPr>
            <p:cNvSpPr/>
            <p:nvPr/>
          </p:nvSpPr>
          <p:spPr>
            <a:xfrm>
              <a:off x="2996561" y="3054742"/>
              <a:ext cx="863686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……….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27" name="Rectangle 134">
              <a:extLst>
                <a:ext uri="{FF2B5EF4-FFF2-40B4-BE49-F238E27FC236}">
                  <a16:creationId xmlns:a16="http://schemas.microsoft.com/office/drawing/2014/main" id="{5E8335E5-9F42-4195-8D63-5FFAA06B6719}"/>
                </a:ext>
              </a:extLst>
            </p:cNvPr>
            <p:cNvSpPr/>
            <p:nvPr/>
          </p:nvSpPr>
          <p:spPr>
            <a:xfrm>
              <a:off x="3863891" y="3054741"/>
              <a:ext cx="223352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</p:grpSp>
      <p:sp>
        <p:nvSpPr>
          <p:cNvPr id="61" name="Rounded Rectangle 127">
            <a:extLst>
              <a:ext uri="{FF2B5EF4-FFF2-40B4-BE49-F238E27FC236}">
                <a16:creationId xmlns:a16="http://schemas.microsoft.com/office/drawing/2014/main" id="{5EC355C4-71FA-444E-AB28-80560682CD6B}"/>
              </a:ext>
            </a:extLst>
          </p:cNvPr>
          <p:cNvSpPr/>
          <p:nvPr/>
        </p:nvSpPr>
        <p:spPr>
          <a:xfrm>
            <a:off x="5357743" y="4633173"/>
            <a:ext cx="3004680" cy="114455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12700" cap="flat" cmpd="sng" algn="ctr">
            <a:solidFill>
              <a:srgbClr val="9F2936"/>
            </a:solidFill>
            <a:prstDash val="solid"/>
            <a:miter lim="800000"/>
          </a:ln>
          <a:effectLst/>
        </p:spPr>
        <p:txBody>
          <a:bodyPr tIns="0" rtlCol="0" anchor="t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400" kern="0" dirty="0">
                <a:solidFill>
                  <a:prstClr val="white"/>
                </a:solidFill>
                <a:latin typeface="Cambria" panose="02040503050406030204" pitchFamily="18" charset="0"/>
                <a:ea typeface="+mn-ea"/>
              </a:rPr>
              <a:t>存储</a:t>
            </a:r>
            <a:r>
              <a:rPr kumimoji="0" lang="zh-CN" altLang="en-US" sz="1400" kern="0">
                <a:solidFill>
                  <a:prstClr val="white"/>
                </a:solidFill>
                <a:latin typeface="Cambria" panose="02040503050406030204" pitchFamily="18" charset="0"/>
                <a:ea typeface="+mn-ea"/>
              </a:rPr>
              <a:t>节点管理</a:t>
            </a:r>
            <a:endParaRPr kumimoji="0" lang="en-GR" sz="1400" kern="0" dirty="0">
              <a:solidFill>
                <a:prstClr val="white"/>
              </a:solidFill>
              <a:latin typeface="Cambria" panose="02040503050406030204" pitchFamily="18" charset="0"/>
              <a:ea typeface="+mn-ea"/>
            </a:endParaRPr>
          </a:p>
        </p:txBody>
      </p:sp>
      <p:grpSp>
        <p:nvGrpSpPr>
          <p:cNvPr id="62" name="Group 129">
            <a:extLst>
              <a:ext uri="{FF2B5EF4-FFF2-40B4-BE49-F238E27FC236}">
                <a16:creationId xmlns:a16="http://schemas.microsoft.com/office/drawing/2014/main" id="{9B58720A-1561-43B2-A6DF-7BD2CEFE2D7A}"/>
              </a:ext>
            </a:extLst>
          </p:cNvPr>
          <p:cNvGrpSpPr/>
          <p:nvPr/>
        </p:nvGrpSpPr>
        <p:grpSpPr>
          <a:xfrm>
            <a:off x="5487292" y="4956213"/>
            <a:ext cx="2777308" cy="199094"/>
            <a:chOff x="1215403" y="2983971"/>
            <a:chExt cx="2871840" cy="501351"/>
          </a:xfrm>
        </p:grpSpPr>
        <p:sp>
          <p:nvSpPr>
            <p:cNvPr id="120" name="Rectangle 135">
              <a:extLst>
                <a:ext uri="{FF2B5EF4-FFF2-40B4-BE49-F238E27FC236}">
                  <a16:creationId xmlns:a16="http://schemas.microsoft.com/office/drawing/2014/main" id="{B52D038D-52AE-492B-9FCC-8C55EA76845F}"/>
                </a:ext>
              </a:extLst>
            </p:cNvPr>
            <p:cNvSpPr/>
            <p:nvPr/>
          </p:nvSpPr>
          <p:spPr>
            <a:xfrm>
              <a:off x="1215403" y="2983971"/>
              <a:ext cx="906641" cy="501351"/>
            </a:xfrm>
            <a:prstGeom prst="rect">
              <a:avLst/>
            </a:prstGeom>
            <a:solidFill>
              <a:srgbClr val="C19859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SN_ID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21" name="Rectangle 136">
              <a:extLst>
                <a:ext uri="{FF2B5EF4-FFF2-40B4-BE49-F238E27FC236}">
                  <a16:creationId xmlns:a16="http://schemas.microsoft.com/office/drawing/2014/main" id="{F709D189-7DF9-459F-B149-3FDED293844C}"/>
                </a:ext>
              </a:extLst>
            </p:cNvPr>
            <p:cNvSpPr/>
            <p:nvPr/>
          </p:nvSpPr>
          <p:spPr>
            <a:xfrm>
              <a:off x="2129232" y="2988115"/>
              <a:ext cx="863686" cy="497207"/>
            </a:xfrm>
            <a:prstGeom prst="rect">
              <a:avLst/>
            </a:prstGeom>
            <a:solidFill>
              <a:srgbClr val="C19859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kern="0" dirty="0">
                  <a:solidFill>
                    <a:prstClr val="black"/>
                  </a:solidFill>
                  <a:latin typeface="Cambria" panose="02040503050406030204" pitchFamily="18" charset="0"/>
                  <a:ea typeface="+mn-ea"/>
                </a:rPr>
                <a:t>类型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</a:endParaRPr>
            </a:p>
          </p:txBody>
        </p:sp>
        <p:sp>
          <p:nvSpPr>
            <p:cNvPr id="122" name="Rectangle 137">
              <a:extLst>
                <a:ext uri="{FF2B5EF4-FFF2-40B4-BE49-F238E27FC236}">
                  <a16:creationId xmlns:a16="http://schemas.microsoft.com/office/drawing/2014/main" id="{7F17C7D3-120D-4202-9BA9-92C63EE41AA4}"/>
                </a:ext>
              </a:extLst>
            </p:cNvPr>
            <p:cNvSpPr/>
            <p:nvPr/>
          </p:nvSpPr>
          <p:spPr>
            <a:xfrm>
              <a:off x="2996561" y="2983971"/>
              <a:ext cx="863686" cy="497207"/>
            </a:xfrm>
            <a:prstGeom prst="rect">
              <a:avLst/>
            </a:prstGeom>
            <a:solidFill>
              <a:srgbClr val="C19859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可用容量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23" name="Rectangle 138">
              <a:extLst>
                <a:ext uri="{FF2B5EF4-FFF2-40B4-BE49-F238E27FC236}">
                  <a16:creationId xmlns:a16="http://schemas.microsoft.com/office/drawing/2014/main" id="{2FA9A426-1BB4-4FD0-96DE-3CC5650F9EFF}"/>
                </a:ext>
              </a:extLst>
            </p:cNvPr>
            <p:cNvSpPr/>
            <p:nvPr/>
          </p:nvSpPr>
          <p:spPr>
            <a:xfrm>
              <a:off x="3863891" y="2988116"/>
              <a:ext cx="223352" cy="493061"/>
            </a:xfrm>
            <a:prstGeom prst="rect">
              <a:avLst/>
            </a:prstGeom>
            <a:solidFill>
              <a:srgbClr val="C19859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63" name="Group 130">
            <a:extLst>
              <a:ext uri="{FF2B5EF4-FFF2-40B4-BE49-F238E27FC236}">
                <a16:creationId xmlns:a16="http://schemas.microsoft.com/office/drawing/2014/main" id="{0A06068F-945F-48EB-9430-54BA8D6662C3}"/>
              </a:ext>
            </a:extLst>
          </p:cNvPr>
          <p:cNvGrpSpPr/>
          <p:nvPr/>
        </p:nvGrpSpPr>
        <p:grpSpPr>
          <a:xfrm>
            <a:off x="5487292" y="5153848"/>
            <a:ext cx="2777308" cy="195803"/>
            <a:chOff x="1215403" y="3054741"/>
            <a:chExt cx="2871840" cy="430581"/>
          </a:xfrm>
        </p:grpSpPr>
        <p:sp>
          <p:nvSpPr>
            <p:cNvPr id="116" name="Rectangle 131">
              <a:extLst>
                <a:ext uri="{FF2B5EF4-FFF2-40B4-BE49-F238E27FC236}">
                  <a16:creationId xmlns:a16="http://schemas.microsoft.com/office/drawing/2014/main" id="{194FD55B-DE57-4DBA-96F4-EEF1B5CEB9F5}"/>
                </a:ext>
              </a:extLst>
            </p:cNvPr>
            <p:cNvSpPr/>
            <p:nvPr/>
          </p:nvSpPr>
          <p:spPr>
            <a:xfrm>
              <a:off x="1215403" y="3054967"/>
              <a:ext cx="913830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0x33A</a:t>
              </a: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8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17" name="Rectangle 132">
              <a:extLst>
                <a:ext uri="{FF2B5EF4-FFF2-40B4-BE49-F238E27FC236}">
                  <a16:creationId xmlns:a16="http://schemas.microsoft.com/office/drawing/2014/main" id="{D65E6665-DC56-4DC5-BC5D-334BB64ABCAF}"/>
                </a:ext>
              </a:extLst>
            </p:cNvPr>
            <p:cNvSpPr/>
            <p:nvPr/>
          </p:nvSpPr>
          <p:spPr>
            <a:xfrm>
              <a:off x="2129236" y="3054967"/>
              <a:ext cx="863686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4E8542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11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4E8542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18" name="Rectangle 133">
              <a:extLst>
                <a:ext uri="{FF2B5EF4-FFF2-40B4-BE49-F238E27FC236}">
                  <a16:creationId xmlns:a16="http://schemas.microsoft.com/office/drawing/2014/main" id="{F22CD12E-46B8-4C5A-A120-634F09E9EE94}"/>
                </a:ext>
              </a:extLst>
            </p:cNvPr>
            <p:cNvSpPr/>
            <p:nvPr/>
          </p:nvSpPr>
          <p:spPr>
            <a:xfrm>
              <a:off x="2996561" y="3054742"/>
              <a:ext cx="863686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50TB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19" name="Rectangle 134">
              <a:extLst>
                <a:ext uri="{FF2B5EF4-FFF2-40B4-BE49-F238E27FC236}">
                  <a16:creationId xmlns:a16="http://schemas.microsoft.com/office/drawing/2014/main" id="{DA28CBD5-0959-44C0-BA03-72B58B09E3A9}"/>
                </a:ext>
              </a:extLst>
            </p:cNvPr>
            <p:cNvSpPr/>
            <p:nvPr/>
          </p:nvSpPr>
          <p:spPr>
            <a:xfrm>
              <a:off x="3863891" y="3054741"/>
              <a:ext cx="223352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64" name="Group 130">
            <a:extLst>
              <a:ext uri="{FF2B5EF4-FFF2-40B4-BE49-F238E27FC236}">
                <a16:creationId xmlns:a16="http://schemas.microsoft.com/office/drawing/2014/main" id="{BCE3B5AC-58AC-448B-A7AC-EA8CF414E714}"/>
              </a:ext>
            </a:extLst>
          </p:cNvPr>
          <p:cNvGrpSpPr/>
          <p:nvPr/>
        </p:nvGrpSpPr>
        <p:grpSpPr>
          <a:xfrm>
            <a:off x="5487292" y="5356671"/>
            <a:ext cx="2777308" cy="195803"/>
            <a:chOff x="1215403" y="3054741"/>
            <a:chExt cx="2871840" cy="430581"/>
          </a:xfrm>
        </p:grpSpPr>
        <p:sp>
          <p:nvSpPr>
            <p:cNvPr id="112" name="Rectangle 131">
              <a:extLst>
                <a:ext uri="{FF2B5EF4-FFF2-40B4-BE49-F238E27FC236}">
                  <a16:creationId xmlns:a16="http://schemas.microsoft.com/office/drawing/2014/main" id="{E5A03669-4713-4C57-AE5E-813C5BA710DC}"/>
                </a:ext>
              </a:extLst>
            </p:cNvPr>
            <p:cNvSpPr/>
            <p:nvPr/>
          </p:nvSpPr>
          <p:spPr>
            <a:xfrm>
              <a:off x="1215403" y="3054967"/>
              <a:ext cx="913830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0x33A9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13" name="Rectangle 132">
              <a:extLst>
                <a:ext uri="{FF2B5EF4-FFF2-40B4-BE49-F238E27FC236}">
                  <a16:creationId xmlns:a16="http://schemas.microsoft.com/office/drawing/2014/main" id="{89E6E6D2-6B06-4BB4-8EBD-A0FCD8361E03}"/>
                </a:ext>
              </a:extLst>
            </p:cNvPr>
            <p:cNvSpPr/>
            <p:nvPr/>
          </p:nvSpPr>
          <p:spPr>
            <a:xfrm>
              <a:off x="2129236" y="3054967"/>
              <a:ext cx="863686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4E8542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11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4E8542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14" name="Rectangle 133">
              <a:extLst>
                <a:ext uri="{FF2B5EF4-FFF2-40B4-BE49-F238E27FC236}">
                  <a16:creationId xmlns:a16="http://schemas.microsoft.com/office/drawing/2014/main" id="{83BC5338-5B85-43C9-96D2-6D7472EB2ACD}"/>
                </a:ext>
              </a:extLst>
            </p:cNvPr>
            <p:cNvSpPr/>
            <p:nvPr/>
          </p:nvSpPr>
          <p:spPr>
            <a:xfrm>
              <a:off x="2996561" y="3054742"/>
              <a:ext cx="863686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100TB</a:t>
              </a:r>
              <a:endParaRPr kumimoji="0" lang="en-GR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15" name="Rectangle 134">
              <a:extLst>
                <a:ext uri="{FF2B5EF4-FFF2-40B4-BE49-F238E27FC236}">
                  <a16:creationId xmlns:a16="http://schemas.microsoft.com/office/drawing/2014/main" id="{DBDB67AC-001E-4806-BF96-63C05ECC5F7E}"/>
                </a:ext>
              </a:extLst>
            </p:cNvPr>
            <p:cNvSpPr/>
            <p:nvPr/>
          </p:nvSpPr>
          <p:spPr>
            <a:xfrm>
              <a:off x="3863891" y="3054741"/>
              <a:ext cx="223352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65" name="Group 130">
            <a:extLst>
              <a:ext uri="{FF2B5EF4-FFF2-40B4-BE49-F238E27FC236}">
                <a16:creationId xmlns:a16="http://schemas.microsoft.com/office/drawing/2014/main" id="{57F44DC0-E3B3-4E95-AEF7-A83C2CF57E56}"/>
              </a:ext>
            </a:extLst>
          </p:cNvPr>
          <p:cNvGrpSpPr/>
          <p:nvPr/>
        </p:nvGrpSpPr>
        <p:grpSpPr>
          <a:xfrm>
            <a:off x="5487292" y="5545829"/>
            <a:ext cx="2777308" cy="195803"/>
            <a:chOff x="1215403" y="3054741"/>
            <a:chExt cx="2871840" cy="430581"/>
          </a:xfrm>
        </p:grpSpPr>
        <p:sp>
          <p:nvSpPr>
            <p:cNvPr id="108" name="Rectangle 131">
              <a:extLst>
                <a:ext uri="{FF2B5EF4-FFF2-40B4-BE49-F238E27FC236}">
                  <a16:creationId xmlns:a16="http://schemas.microsoft.com/office/drawing/2014/main" id="{3258B753-5A38-4F5E-B721-943AE95A2955}"/>
                </a:ext>
              </a:extLst>
            </p:cNvPr>
            <p:cNvSpPr/>
            <p:nvPr/>
          </p:nvSpPr>
          <p:spPr>
            <a:xfrm>
              <a:off x="1215403" y="3054967"/>
              <a:ext cx="913830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kern="0">
                  <a:solidFill>
                    <a:srgbClr val="9F2936"/>
                  </a:solidFill>
                  <a:latin typeface="Cambria" panose="02040503050406030204" pitchFamily="18" charset="0"/>
                  <a:ea typeface="+mn-ea"/>
                </a:rPr>
                <a:t>…………..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09" name="Rectangle 132">
              <a:extLst>
                <a:ext uri="{FF2B5EF4-FFF2-40B4-BE49-F238E27FC236}">
                  <a16:creationId xmlns:a16="http://schemas.microsoft.com/office/drawing/2014/main" id="{3DCE5BED-9819-4020-BE2D-2CEF0675E794}"/>
                </a:ext>
              </a:extLst>
            </p:cNvPr>
            <p:cNvSpPr/>
            <p:nvPr/>
          </p:nvSpPr>
          <p:spPr>
            <a:xfrm>
              <a:off x="2129236" y="3054967"/>
              <a:ext cx="863686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4E8542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……….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4E8542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10" name="Rectangle 133">
              <a:extLst>
                <a:ext uri="{FF2B5EF4-FFF2-40B4-BE49-F238E27FC236}">
                  <a16:creationId xmlns:a16="http://schemas.microsoft.com/office/drawing/2014/main" id="{329786DB-6DED-4B3F-B9B3-DB57AB5A7053}"/>
                </a:ext>
              </a:extLst>
            </p:cNvPr>
            <p:cNvSpPr/>
            <p:nvPr/>
          </p:nvSpPr>
          <p:spPr>
            <a:xfrm>
              <a:off x="2996561" y="3054742"/>
              <a:ext cx="863686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……….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11" name="Rectangle 134">
              <a:extLst>
                <a:ext uri="{FF2B5EF4-FFF2-40B4-BE49-F238E27FC236}">
                  <a16:creationId xmlns:a16="http://schemas.microsoft.com/office/drawing/2014/main" id="{2E84CCCB-234F-4781-88BD-9C76DBC94667}"/>
                </a:ext>
              </a:extLst>
            </p:cNvPr>
            <p:cNvSpPr/>
            <p:nvPr/>
          </p:nvSpPr>
          <p:spPr>
            <a:xfrm>
              <a:off x="3863891" y="3054741"/>
              <a:ext cx="223352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</p:grpSp>
      <p:sp>
        <p:nvSpPr>
          <p:cNvPr id="66" name="Rounded Rectangle 127">
            <a:extLst>
              <a:ext uri="{FF2B5EF4-FFF2-40B4-BE49-F238E27FC236}">
                <a16:creationId xmlns:a16="http://schemas.microsoft.com/office/drawing/2014/main" id="{862DC70F-880D-49CA-8F76-54B183D22790}"/>
              </a:ext>
            </a:extLst>
          </p:cNvPr>
          <p:cNvSpPr/>
          <p:nvPr/>
        </p:nvSpPr>
        <p:spPr>
          <a:xfrm>
            <a:off x="8603629" y="4688761"/>
            <a:ext cx="3004680" cy="114455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12700" cap="flat" cmpd="sng" algn="ctr">
            <a:solidFill>
              <a:srgbClr val="9F2936"/>
            </a:solidFill>
            <a:prstDash val="solid"/>
            <a:miter lim="800000"/>
          </a:ln>
          <a:effectLst/>
        </p:spPr>
        <p:txBody>
          <a:bodyPr tIns="0" rtlCol="0" anchor="t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400" kern="0" dirty="0">
                <a:solidFill>
                  <a:prstClr val="white"/>
                </a:solidFill>
                <a:latin typeface="Cambria" panose="02040503050406030204" pitchFamily="18" charset="0"/>
                <a:ea typeface="+mn-ea"/>
              </a:rPr>
              <a:t>光</a:t>
            </a:r>
            <a:r>
              <a:rPr kumimoji="0" lang="zh-CN" altLang="en-US" sz="1400" kern="0">
                <a:solidFill>
                  <a:prstClr val="white"/>
                </a:solidFill>
                <a:latin typeface="Cambria" panose="02040503050406030204" pitchFamily="18" charset="0"/>
                <a:ea typeface="+mn-ea"/>
              </a:rPr>
              <a:t>盘库管理</a:t>
            </a:r>
            <a:endParaRPr kumimoji="0" lang="en-GR" sz="1400" kern="0" dirty="0">
              <a:solidFill>
                <a:prstClr val="white"/>
              </a:solidFill>
              <a:latin typeface="Cambria" panose="02040503050406030204" pitchFamily="18" charset="0"/>
              <a:ea typeface="+mn-ea"/>
            </a:endParaRPr>
          </a:p>
        </p:txBody>
      </p:sp>
      <p:grpSp>
        <p:nvGrpSpPr>
          <p:cNvPr id="67" name="Group 129">
            <a:extLst>
              <a:ext uri="{FF2B5EF4-FFF2-40B4-BE49-F238E27FC236}">
                <a16:creationId xmlns:a16="http://schemas.microsoft.com/office/drawing/2014/main" id="{DC4E4BDE-9D7C-45E7-9534-E4F13245C3E3}"/>
              </a:ext>
            </a:extLst>
          </p:cNvPr>
          <p:cNvGrpSpPr/>
          <p:nvPr/>
        </p:nvGrpSpPr>
        <p:grpSpPr>
          <a:xfrm>
            <a:off x="8733178" y="5011801"/>
            <a:ext cx="2777308" cy="199094"/>
            <a:chOff x="1215403" y="2983971"/>
            <a:chExt cx="2871840" cy="501351"/>
          </a:xfrm>
        </p:grpSpPr>
        <p:sp>
          <p:nvSpPr>
            <p:cNvPr id="104" name="Rectangle 135">
              <a:extLst>
                <a:ext uri="{FF2B5EF4-FFF2-40B4-BE49-F238E27FC236}">
                  <a16:creationId xmlns:a16="http://schemas.microsoft.com/office/drawing/2014/main" id="{9986E6FB-04BC-453E-80D3-2EA68443DAE3}"/>
                </a:ext>
              </a:extLst>
            </p:cNvPr>
            <p:cNvSpPr/>
            <p:nvPr/>
          </p:nvSpPr>
          <p:spPr>
            <a:xfrm>
              <a:off x="1215403" y="2983971"/>
              <a:ext cx="906641" cy="501351"/>
            </a:xfrm>
            <a:prstGeom prst="rect">
              <a:avLst/>
            </a:prstGeom>
            <a:solidFill>
              <a:srgbClr val="C19859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DN_ID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05" name="Rectangle 136">
              <a:extLst>
                <a:ext uri="{FF2B5EF4-FFF2-40B4-BE49-F238E27FC236}">
                  <a16:creationId xmlns:a16="http://schemas.microsoft.com/office/drawing/2014/main" id="{46DD5B0B-228D-497D-89E0-42EB0264D992}"/>
                </a:ext>
              </a:extLst>
            </p:cNvPr>
            <p:cNvSpPr/>
            <p:nvPr/>
          </p:nvSpPr>
          <p:spPr>
            <a:xfrm>
              <a:off x="2129232" y="2988115"/>
              <a:ext cx="863686" cy="497207"/>
            </a:xfrm>
            <a:prstGeom prst="rect">
              <a:avLst/>
            </a:prstGeom>
            <a:solidFill>
              <a:srgbClr val="C19859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kern="0" dirty="0">
                  <a:solidFill>
                    <a:prstClr val="black"/>
                  </a:solidFill>
                  <a:latin typeface="Cambria" panose="02040503050406030204" pitchFamily="18" charset="0"/>
                  <a:ea typeface="+mn-ea"/>
                </a:rPr>
                <a:t>状态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</a:endParaRPr>
            </a:p>
          </p:txBody>
        </p:sp>
        <p:sp>
          <p:nvSpPr>
            <p:cNvPr id="106" name="Rectangle 137">
              <a:extLst>
                <a:ext uri="{FF2B5EF4-FFF2-40B4-BE49-F238E27FC236}">
                  <a16:creationId xmlns:a16="http://schemas.microsoft.com/office/drawing/2014/main" id="{28F2F93A-C17B-48B5-A617-93AB885DA940}"/>
                </a:ext>
              </a:extLst>
            </p:cNvPr>
            <p:cNvSpPr/>
            <p:nvPr/>
          </p:nvSpPr>
          <p:spPr>
            <a:xfrm>
              <a:off x="2996561" y="2983971"/>
              <a:ext cx="863686" cy="497207"/>
            </a:xfrm>
            <a:prstGeom prst="rect">
              <a:avLst/>
            </a:prstGeom>
            <a:solidFill>
              <a:srgbClr val="C19859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kern="0" dirty="0">
                  <a:solidFill>
                    <a:prstClr val="black"/>
                  </a:solidFill>
                  <a:latin typeface="Cambria" panose="02040503050406030204" pitchFamily="18" charset="0"/>
                  <a:ea typeface="+mn-ea"/>
                </a:rPr>
                <a:t>光盘数量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07" name="Rectangle 138">
              <a:extLst>
                <a:ext uri="{FF2B5EF4-FFF2-40B4-BE49-F238E27FC236}">
                  <a16:creationId xmlns:a16="http://schemas.microsoft.com/office/drawing/2014/main" id="{4EC9BBFA-1521-4DCE-AD08-1DF222187A3B}"/>
                </a:ext>
              </a:extLst>
            </p:cNvPr>
            <p:cNvSpPr/>
            <p:nvPr/>
          </p:nvSpPr>
          <p:spPr>
            <a:xfrm>
              <a:off x="3863891" y="2988116"/>
              <a:ext cx="223352" cy="493061"/>
            </a:xfrm>
            <a:prstGeom prst="rect">
              <a:avLst/>
            </a:prstGeom>
            <a:solidFill>
              <a:srgbClr val="C19859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68" name="Group 130">
            <a:extLst>
              <a:ext uri="{FF2B5EF4-FFF2-40B4-BE49-F238E27FC236}">
                <a16:creationId xmlns:a16="http://schemas.microsoft.com/office/drawing/2014/main" id="{2A9917C1-3602-4EB8-B5A2-FBBB15EDACBE}"/>
              </a:ext>
            </a:extLst>
          </p:cNvPr>
          <p:cNvGrpSpPr/>
          <p:nvPr/>
        </p:nvGrpSpPr>
        <p:grpSpPr>
          <a:xfrm>
            <a:off x="8733178" y="5209436"/>
            <a:ext cx="2777308" cy="195803"/>
            <a:chOff x="1215403" y="3054741"/>
            <a:chExt cx="2871840" cy="430581"/>
          </a:xfrm>
        </p:grpSpPr>
        <p:sp>
          <p:nvSpPr>
            <p:cNvPr id="100" name="Rectangle 131">
              <a:extLst>
                <a:ext uri="{FF2B5EF4-FFF2-40B4-BE49-F238E27FC236}">
                  <a16:creationId xmlns:a16="http://schemas.microsoft.com/office/drawing/2014/main" id="{22E1BCF0-3E36-4CF3-A8FA-A94A3B223470}"/>
                </a:ext>
              </a:extLst>
            </p:cNvPr>
            <p:cNvSpPr/>
            <p:nvPr/>
          </p:nvSpPr>
          <p:spPr>
            <a:xfrm>
              <a:off x="1215403" y="3054967"/>
              <a:ext cx="913830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0x</a:t>
              </a: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1111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01" name="Rectangle 132">
              <a:extLst>
                <a:ext uri="{FF2B5EF4-FFF2-40B4-BE49-F238E27FC236}">
                  <a16:creationId xmlns:a16="http://schemas.microsoft.com/office/drawing/2014/main" id="{3643B970-E494-4371-BDB7-0C9F29BEAFC7}"/>
                </a:ext>
              </a:extLst>
            </p:cNvPr>
            <p:cNvSpPr/>
            <p:nvPr/>
          </p:nvSpPr>
          <p:spPr>
            <a:xfrm>
              <a:off x="2129236" y="3054967"/>
              <a:ext cx="863686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4E8542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已刻录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4E8542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02" name="Rectangle 133">
              <a:extLst>
                <a:ext uri="{FF2B5EF4-FFF2-40B4-BE49-F238E27FC236}">
                  <a16:creationId xmlns:a16="http://schemas.microsoft.com/office/drawing/2014/main" id="{5CBA43C8-0BD3-4B25-9912-B90584E96BFB}"/>
                </a:ext>
              </a:extLst>
            </p:cNvPr>
            <p:cNvSpPr/>
            <p:nvPr/>
          </p:nvSpPr>
          <p:spPr>
            <a:xfrm>
              <a:off x="2996561" y="3054742"/>
              <a:ext cx="863686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1000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103" name="Rectangle 134">
              <a:extLst>
                <a:ext uri="{FF2B5EF4-FFF2-40B4-BE49-F238E27FC236}">
                  <a16:creationId xmlns:a16="http://schemas.microsoft.com/office/drawing/2014/main" id="{362A7B47-485A-4772-AB65-ABB4B9D98EF9}"/>
                </a:ext>
              </a:extLst>
            </p:cNvPr>
            <p:cNvSpPr/>
            <p:nvPr/>
          </p:nvSpPr>
          <p:spPr>
            <a:xfrm>
              <a:off x="3863891" y="3054741"/>
              <a:ext cx="223352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69" name="Group 130">
            <a:extLst>
              <a:ext uri="{FF2B5EF4-FFF2-40B4-BE49-F238E27FC236}">
                <a16:creationId xmlns:a16="http://schemas.microsoft.com/office/drawing/2014/main" id="{4A2DE1A2-E689-4CFC-9D24-E1EEC4DAD9E0}"/>
              </a:ext>
            </a:extLst>
          </p:cNvPr>
          <p:cNvGrpSpPr/>
          <p:nvPr/>
        </p:nvGrpSpPr>
        <p:grpSpPr>
          <a:xfrm>
            <a:off x="8733178" y="5412259"/>
            <a:ext cx="2777308" cy="195803"/>
            <a:chOff x="1215403" y="3054741"/>
            <a:chExt cx="2871840" cy="430581"/>
          </a:xfrm>
        </p:grpSpPr>
        <p:sp>
          <p:nvSpPr>
            <p:cNvPr id="96" name="Rectangle 131">
              <a:extLst>
                <a:ext uri="{FF2B5EF4-FFF2-40B4-BE49-F238E27FC236}">
                  <a16:creationId xmlns:a16="http://schemas.microsoft.com/office/drawing/2014/main" id="{B90D6DAE-1099-48E2-B2B2-21ABE417E338}"/>
                </a:ext>
              </a:extLst>
            </p:cNvPr>
            <p:cNvSpPr/>
            <p:nvPr/>
          </p:nvSpPr>
          <p:spPr>
            <a:xfrm>
              <a:off x="1215403" y="3054967"/>
              <a:ext cx="913830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0x</a:t>
              </a: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1112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97" name="Rectangle 132">
              <a:extLst>
                <a:ext uri="{FF2B5EF4-FFF2-40B4-BE49-F238E27FC236}">
                  <a16:creationId xmlns:a16="http://schemas.microsoft.com/office/drawing/2014/main" id="{865951A3-5CEB-41C6-9CE5-CFDD9DC035C8}"/>
                </a:ext>
              </a:extLst>
            </p:cNvPr>
            <p:cNvSpPr/>
            <p:nvPr/>
          </p:nvSpPr>
          <p:spPr>
            <a:xfrm>
              <a:off x="2129236" y="3054967"/>
              <a:ext cx="863686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4E8542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可刻录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4E8542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98" name="Rectangle 133">
              <a:extLst>
                <a:ext uri="{FF2B5EF4-FFF2-40B4-BE49-F238E27FC236}">
                  <a16:creationId xmlns:a16="http://schemas.microsoft.com/office/drawing/2014/main" id="{6D59613D-5832-4CB2-93E4-1DE41F3107B6}"/>
                </a:ext>
              </a:extLst>
            </p:cNvPr>
            <p:cNvSpPr/>
            <p:nvPr/>
          </p:nvSpPr>
          <p:spPr>
            <a:xfrm>
              <a:off x="2996561" y="3054742"/>
              <a:ext cx="863686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5000</a:t>
              </a:r>
              <a:endParaRPr kumimoji="0" lang="en-GR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99" name="Rectangle 134">
              <a:extLst>
                <a:ext uri="{FF2B5EF4-FFF2-40B4-BE49-F238E27FC236}">
                  <a16:creationId xmlns:a16="http://schemas.microsoft.com/office/drawing/2014/main" id="{935D658D-7AAF-4B4D-9B0C-6C8CDAF7E315}"/>
                </a:ext>
              </a:extLst>
            </p:cNvPr>
            <p:cNvSpPr/>
            <p:nvPr/>
          </p:nvSpPr>
          <p:spPr>
            <a:xfrm>
              <a:off x="3863891" y="3054741"/>
              <a:ext cx="223352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70" name="Group 130">
            <a:extLst>
              <a:ext uri="{FF2B5EF4-FFF2-40B4-BE49-F238E27FC236}">
                <a16:creationId xmlns:a16="http://schemas.microsoft.com/office/drawing/2014/main" id="{A4797E46-4458-4693-A608-51DECF8C10D2}"/>
              </a:ext>
            </a:extLst>
          </p:cNvPr>
          <p:cNvGrpSpPr/>
          <p:nvPr/>
        </p:nvGrpSpPr>
        <p:grpSpPr>
          <a:xfrm>
            <a:off x="8733178" y="5601417"/>
            <a:ext cx="2777308" cy="195803"/>
            <a:chOff x="1215403" y="3054741"/>
            <a:chExt cx="2871840" cy="430581"/>
          </a:xfrm>
        </p:grpSpPr>
        <p:sp>
          <p:nvSpPr>
            <p:cNvPr id="92" name="Rectangle 131">
              <a:extLst>
                <a:ext uri="{FF2B5EF4-FFF2-40B4-BE49-F238E27FC236}">
                  <a16:creationId xmlns:a16="http://schemas.microsoft.com/office/drawing/2014/main" id="{0F48694E-D116-4550-B83D-68875DFC80DE}"/>
                </a:ext>
              </a:extLst>
            </p:cNvPr>
            <p:cNvSpPr/>
            <p:nvPr/>
          </p:nvSpPr>
          <p:spPr>
            <a:xfrm>
              <a:off x="1215403" y="3054967"/>
              <a:ext cx="913830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kern="0">
                  <a:solidFill>
                    <a:srgbClr val="9F2936"/>
                  </a:solidFill>
                  <a:latin typeface="Cambria" panose="02040503050406030204" pitchFamily="18" charset="0"/>
                  <a:ea typeface="+mn-ea"/>
                </a:rPr>
                <a:t>…………..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93" name="Rectangle 132">
              <a:extLst>
                <a:ext uri="{FF2B5EF4-FFF2-40B4-BE49-F238E27FC236}">
                  <a16:creationId xmlns:a16="http://schemas.microsoft.com/office/drawing/2014/main" id="{7A189377-68E9-4177-A6F5-975287D97560}"/>
                </a:ext>
              </a:extLst>
            </p:cNvPr>
            <p:cNvSpPr/>
            <p:nvPr/>
          </p:nvSpPr>
          <p:spPr>
            <a:xfrm>
              <a:off x="2129236" y="3054967"/>
              <a:ext cx="863686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4E8542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……….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4E8542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94" name="Rectangle 133">
              <a:extLst>
                <a:ext uri="{FF2B5EF4-FFF2-40B4-BE49-F238E27FC236}">
                  <a16:creationId xmlns:a16="http://schemas.microsoft.com/office/drawing/2014/main" id="{C2BDDCD8-18A2-45C5-B9F9-51B6466DB014}"/>
                </a:ext>
              </a:extLst>
            </p:cNvPr>
            <p:cNvSpPr/>
            <p:nvPr/>
          </p:nvSpPr>
          <p:spPr>
            <a:xfrm>
              <a:off x="2996561" y="3054742"/>
              <a:ext cx="863686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……….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95" name="Rectangle 134">
              <a:extLst>
                <a:ext uri="{FF2B5EF4-FFF2-40B4-BE49-F238E27FC236}">
                  <a16:creationId xmlns:a16="http://schemas.microsoft.com/office/drawing/2014/main" id="{0D322521-E4EB-4DC3-8473-89A70F3AE591}"/>
                </a:ext>
              </a:extLst>
            </p:cNvPr>
            <p:cNvSpPr/>
            <p:nvPr/>
          </p:nvSpPr>
          <p:spPr>
            <a:xfrm>
              <a:off x="3863891" y="3054741"/>
              <a:ext cx="223352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</p:grpSp>
      <p:sp>
        <p:nvSpPr>
          <p:cNvPr id="71" name="Rounded Rectangle 127">
            <a:extLst>
              <a:ext uri="{FF2B5EF4-FFF2-40B4-BE49-F238E27FC236}">
                <a16:creationId xmlns:a16="http://schemas.microsoft.com/office/drawing/2014/main" id="{E04C6AEE-79C3-42D7-9C09-F783C60863AF}"/>
              </a:ext>
            </a:extLst>
          </p:cNvPr>
          <p:cNvSpPr/>
          <p:nvPr/>
        </p:nvSpPr>
        <p:spPr>
          <a:xfrm>
            <a:off x="8617355" y="3421511"/>
            <a:ext cx="3004680" cy="121166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12700" cap="flat" cmpd="sng" algn="ctr">
            <a:solidFill>
              <a:srgbClr val="9F2936"/>
            </a:solidFill>
            <a:prstDash val="solid"/>
            <a:miter lim="800000"/>
          </a:ln>
          <a:effectLst/>
        </p:spPr>
        <p:txBody>
          <a:bodyPr tIns="0" rtlCol="0" anchor="t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400" kern="0">
                <a:solidFill>
                  <a:prstClr val="white"/>
                </a:solidFill>
                <a:latin typeface="Cambria" panose="02040503050406030204" pitchFamily="18" charset="0"/>
                <a:ea typeface="+mn-ea"/>
              </a:rPr>
              <a:t>光盘管理</a:t>
            </a:r>
            <a:endParaRPr kumimoji="0" lang="en-GR" sz="1400" kern="0" dirty="0">
              <a:solidFill>
                <a:prstClr val="white"/>
              </a:solidFill>
              <a:latin typeface="Cambria" panose="02040503050406030204" pitchFamily="18" charset="0"/>
              <a:ea typeface="+mn-ea"/>
            </a:endParaRPr>
          </a:p>
        </p:txBody>
      </p:sp>
      <p:grpSp>
        <p:nvGrpSpPr>
          <p:cNvPr id="72" name="Group 129">
            <a:extLst>
              <a:ext uri="{FF2B5EF4-FFF2-40B4-BE49-F238E27FC236}">
                <a16:creationId xmlns:a16="http://schemas.microsoft.com/office/drawing/2014/main" id="{C82BA1AF-C4A8-4EC1-8872-5BFEE28362FE}"/>
              </a:ext>
            </a:extLst>
          </p:cNvPr>
          <p:cNvGrpSpPr/>
          <p:nvPr/>
        </p:nvGrpSpPr>
        <p:grpSpPr>
          <a:xfrm>
            <a:off x="8746904" y="3744551"/>
            <a:ext cx="2777308" cy="199094"/>
            <a:chOff x="1215403" y="2983971"/>
            <a:chExt cx="2871840" cy="501351"/>
          </a:xfrm>
        </p:grpSpPr>
        <p:sp>
          <p:nvSpPr>
            <p:cNvPr id="88" name="Rectangle 135">
              <a:extLst>
                <a:ext uri="{FF2B5EF4-FFF2-40B4-BE49-F238E27FC236}">
                  <a16:creationId xmlns:a16="http://schemas.microsoft.com/office/drawing/2014/main" id="{4AEBFA70-D1A9-43BD-8737-6692B97236E5}"/>
                </a:ext>
              </a:extLst>
            </p:cNvPr>
            <p:cNvSpPr/>
            <p:nvPr/>
          </p:nvSpPr>
          <p:spPr>
            <a:xfrm>
              <a:off x="1215403" y="2983971"/>
              <a:ext cx="906641" cy="501351"/>
            </a:xfrm>
            <a:prstGeom prst="rect">
              <a:avLst/>
            </a:prstGeom>
            <a:solidFill>
              <a:srgbClr val="C19859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DISC_ID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89" name="Rectangle 136">
              <a:extLst>
                <a:ext uri="{FF2B5EF4-FFF2-40B4-BE49-F238E27FC236}">
                  <a16:creationId xmlns:a16="http://schemas.microsoft.com/office/drawing/2014/main" id="{BF097E0A-ABCA-483C-975A-D9D44DE9A21C}"/>
                </a:ext>
              </a:extLst>
            </p:cNvPr>
            <p:cNvSpPr/>
            <p:nvPr/>
          </p:nvSpPr>
          <p:spPr>
            <a:xfrm>
              <a:off x="2129232" y="2988115"/>
              <a:ext cx="863686" cy="497207"/>
            </a:xfrm>
            <a:prstGeom prst="rect">
              <a:avLst/>
            </a:prstGeom>
            <a:solidFill>
              <a:srgbClr val="C19859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</a:rPr>
                <a:t>状态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</a:endParaRPr>
            </a:p>
          </p:txBody>
        </p:sp>
        <p:sp>
          <p:nvSpPr>
            <p:cNvPr id="90" name="Rectangle 137">
              <a:extLst>
                <a:ext uri="{FF2B5EF4-FFF2-40B4-BE49-F238E27FC236}">
                  <a16:creationId xmlns:a16="http://schemas.microsoft.com/office/drawing/2014/main" id="{45A2EA4C-0D03-47DA-8E24-014CA907F263}"/>
                </a:ext>
              </a:extLst>
            </p:cNvPr>
            <p:cNvSpPr/>
            <p:nvPr/>
          </p:nvSpPr>
          <p:spPr>
            <a:xfrm>
              <a:off x="2996561" y="2983971"/>
              <a:ext cx="863686" cy="497207"/>
            </a:xfrm>
            <a:prstGeom prst="rect">
              <a:avLst/>
            </a:prstGeom>
            <a:solidFill>
              <a:srgbClr val="C19859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kern="0" dirty="0">
                  <a:solidFill>
                    <a:prstClr val="black"/>
                  </a:solidFill>
                  <a:latin typeface="Cambria" panose="02040503050406030204" pitchFamily="18" charset="0"/>
                  <a:ea typeface="+mn-ea"/>
                </a:rPr>
                <a:t>容量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91" name="Rectangle 138">
              <a:extLst>
                <a:ext uri="{FF2B5EF4-FFF2-40B4-BE49-F238E27FC236}">
                  <a16:creationId xmlns:a16="http://schemas.microsoft.com/office/drawing/2014/main" id="{12AEC897-29E0-4306-A0BF-EF02CB68F235}"/>
                </a:ext>
              </a:extLst>
            </p:cNvPr>
            <p:cNvSpPr/>
            <p:nvPr/>
          </p:nvSpPr>
          <p:spPr>
            <a:xfrm>
              <a:off x="3863891" y="2988116"/>
              <a:ext cx="223352" cy="493061"/>
            </a:xfrm>
            <a:prstGeom prst="rect">
              <a:avLst/>
            </a:prstGeom>
            <a:solidFill>
              <a:srgbClr val="C19859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73" name="Group 130">
            <a:extLst>
              <a:ext uri="{FF2B5EF4-FFF2-40B4-BE49-F238E27FC236}">
                <a16:creationId xmlns:a16="http://schemas.microsoft.com/office/drawing/2014/main" id="{C48A31B0-EC83-4A13-9EF0-05FBA166BDAC}"/>
              </a:ext>
            </a:extLst>
          </p:cNvPr>
          <p:cNvGrpSpPr/>
          <p:nvPr/>
        </p:nvGrpSpPr>
        <p:grpSpPr>
          <a:xfrm>
            <a:off x="8746904" y="3942186"/>
            <a:ext cx="2777308" cy="195803"/>
            <a:chOff x="1215403" y="3054741"/>
            <a:chExt cx="2871840" cy="430581"/>
          </a:xfrm>
        </p:grpSpPr>
        <p:sp>
          <p:nvSpPr>
            <p:cNvPr id="84" name="Rectangle 131">
              <a:extLst>
                <a:ext uri="{FF2B5EF4-FFF2-40B4-BE49-F238E27FC236}">
                  <a16:creationId xmlns:a16="http://schemas.microsoft.com/office/drawing/2014/main" id="{6A73E67E-38AD-48F2-A785-FB1E8B165CB2}"/>
                </a:ext>
              </a:extLst>
            </p:cNvPr>
            <p:cNvSpPr/>
            <p:nvPr/>
          </p:nvSpPr>
          <p:spPr>
            <a:xfrm>
              <a:off x="1215403" y="3054967"/>
              <a:ext cx="913830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0x</a:t>
              </a: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3333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85" name="Rectangle 132">
              <a:extLst>
                <a:ext uri="{FF2B5EF4-FFF2-40B4-BE49-F238E27FC236}">
                  <a16:creationId xmlns:a16="http://schemas.microsoft.com/office/drawing/2014/main" id="{FB45B59B-3A3F-4CB4-9F8B-FD82B2F5E2CB}"/>
                </a:ext>
              </a:extLst>
            </p:cNvPr>
            <p:cNvSpPr/>
            <p:nvPr/>
          </p:nvSpPr>
          <p:spPr>
            <a:xfrm>
              <a:off x="2129236" y="3054967"/>
              <a:ext cx="863686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4E8542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已刻录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4E8542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86" name="Rectangle 133">
              <a:extLst>
                <a:ext uri="{FF2B5EF4-FFF2-40B4-BE49-F238E27FC236}">
                  <a16:creationId xmlns:a16="http://schemas.microsoft.com/office/drawing/2014/main" id="{E75E4F89-1D62-4236-8663-52286B359F74}"/>
                </a:ext>
              </a:extLst>
            </p:cNvPr>
            <p:cNvSpPr/>
            <p:nvPr/>
          </p:nvSpPr>
          <p:spPr>
            <a:xfrm>
              <a:off x="2996561" y="3054742"/>
              <a:ext cx="863686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0.1</a:t>
              </a: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TB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87" name="Rectangle 134">
              <a:extLst>
                <a:ext uri="{FF2B5EF4-FFF2-40B4-BE49-F238E27FC236}">
                  <a16:creationId xmlns:a16="http://schemas.microsoft.com/office/drawing/2014/main" id="{5BA6EC17-562F-41D7-8F9E-F55ADB707637}"/>
                </a:ext>
              </a:extLst>
            </p:cNvPr>
            <p:cNvSpPr/>
            <p:nvPr/>
          </p:nvSpPr>
          <p:spPr>
            <a:xfrm>
              <a:off x="3863891" y="3054741"/>
              <a:ext cx="223352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74" name="Group 130">
            <a:extLst>
              <a:ext uri="{FF2B5EF4-FFF2-40B4-BE49-F238E27FC236}">
                <a16:creationId xmlns:a16="http://schemas.microsoft.com/office/drawing/2014/main" id="{47C761D4-0D58-469C-B609-D5846C1B65B4}"/>
              </a:ext>
            </a:extLst>
          </p:cNvPr>
          <p:cNvGrpSpPr/>
          <p:nvPr/>
        </p:nvGrpSpPr>
        <p:grpSpPr>
          <a:xfrm>
            <a:off x="8746904" y="4145009"/>
            <a:ext cx="2777308" cy="195803"/>
            <a:chOff x="1215403" y="3054741"/>
            <a:chExt cx="2871840" cy="430581"/>
          </a:xfrm>
        </p:grpSpPr>
        <p:sp>
          <p:nvSpPr>
            <p:cNvPr id="80" name="Rectangle 131">
              <a:extLst>
                <a:ext uri="{FF2B5EF4-FFF2-40B4-BE49-F238E27FC236}">
                  <a16:creationId xmlns:a16="http://schemas.microsoft.com/office/drawing/2014/main" id="{1591567C-B55C-451A-9F99-6E0C00BE8619}"/>
                </a:ext>
              </a:extLst>
            </p:cNvPr>
            <p:cNvSpPr/>
            <p:nvPr/>
          </p:nvSpPr>
          <p:spPr>
            <a:xfrm>
              <a:off x="1215403" y="3054967"/>
              <a:ext cx="913830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0x</a:t>
              </a: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3334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81" name="Rectangle 132">
              <a:extLst>
                <a:ext uri="{FF2B5EF4-FFF2-40B4-BE49-F238E27FC236}">
                  <a16:creationId xmlns:a16="http://schemas.microsoft.com/office/drawing/2014/main" id="{8F4AF3B7-D2E9-4E6B-8A38-A83A63643C38}"/>
                </a:ext>
              </a:extLst>
            </p:cNvPr>
            <p:cNvSpPr/>
            <p:nvPr/>
          </p:nvSpPr>
          <p:spPr>
            <a:xfrm>
              <a:off x="2129236" y="3054967"/>
              <a:ext cx="863686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4E8542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可刻录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4E8542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82" name="Rectangle 133">
              <a:extLst>
                <a:ext uri="{FF2B5EF4-FFF2-40B4-BE49-F238E27FC236}">
                  <a16:creationId xmlns:a16="http://schemas.microsoft.com/office/drawing/2014/main" id="{C37E11AF-C74E-4FF1-B298-CB1381787F82}"/>
                </a:ext>
              </a:extLst>
            </p:cNvPr>
            <p:cNvSpPr/>
            <p:nvPr/>
          </p:nvSpPr>
          <p:spPr>
            <a:xfrm>
              <a:off x="2996561" y="3054742"/>
              <a:ext cx="863686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10TB</a:t>
              </a:r>
              <a:endParaRPr kumimoji="0" lang="en-GR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83" name="Rectangle 134">
              <a:extLst>
                <a:ext uri="{FF2B5EF4-FFF2-40B4-BE49-F238E27FC236}">
                  <a16:creationId xmlns:a16="http://schemas.microsoft.com/office/drawing/2014/main" id="{FD566527-B884-4F2A-9943-A7FF88BA30BF}"/>
                </a:ext>
              </a:extLst>
            </p:cNvPr>
            <p:cNvSpPr/>
            <p:nvPr/>
          </p:nvSpPr>
          <p:spPr>
            <a:xfrm>
              <a:off x="3863891" y="3054741"/>
              <a:ext cx="223352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</p:grpSp>
      <p:grpSp>
        <p:nvGrpSpPr>
          <p:cNvPr id="75" name="Group 130">
            <a:extLst>
              <a:ext uri="{FF2B5EF4-FFF2-40B4-BE49-F238E27FC236}">
                <a16:creationId xmlns:a16="http://schemas.microsoft.com/office/drawing/2014/main" id="{605FBB82-0898-4AFF-A34D-25296675383F}"/>
              </a:ext>
            </a:extLst>
          </p:cNvPr>
          <p:cNvGrpSpPr/>
          <p:nvPr/>
        </p:nvGrpSpPr>
        <p:grpSpPr>
          <a:xfrm>
            <a:off x="8746904" y="4334167"/>
            <a:ext cx="2777308" cy="195803"/>
            <a:chOff x="1215403" y="3054741"/>
            <a:chExt cx="2871840" cy="430581"/>
          </a:xfrm>
        </p:grpSpPr>
        <p:sp>
          <p:nvSpPr>
            <p:cNvPr id="76" name="Rectangle 131">
              <a:extLst>
                <a:ext uri="{FF2B5EF4-FFF2-40B4-BE49-F238E27FC236}">
                  <a16:creationId xmlns:a16="http://schemas.microsoft.com/office/drawing/2014/main" id="{D1855E74-AF24-4B6B-BB6E-EA88F88A49E1}"/>
                </a:ext>
              </a:extLst>
            </p:cNvPr>
            <p:cNvSpPr/>
            <p:nvPr/>
          </p:nvSpPr>
          <p:spPr>
            <a:xfrm>
              <a:off x="1215403" y="3054967"/>
              <a:ext cx="913830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kern="0">
                  <a:solidFill>
                    <a:srgbClr val="9F2936"/>
                  </a:solidFill>
                  <a:latin typeface="Cambria" panose="02040503050406030204" pitchFamily="18" charset="0"/>
                  <a:ea typeface="+mn-ea"/>
                </a:rPr>
                <a:t>…………..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77" name="Rectangle 132">
              <a:extLst>
                <a:ext uri="{FF2B5EF4-FFF2-40B4-BE49-F238E27FC236}">
                  <a16:creationId xmlns:a16="http://schemas.microsoft.com/office/drawing/2014/main" id="{DA633D7D-7436-40CD-8B8F-DBFC5BF58359}"/>
                </a:ext>
              </a:extLst>
            </p:cNvPr>
            <p:cNvSpPr/>
            <p:nvPr/>
          </p:nvSpPr>
          <p:spPr>
            <a:xfrm>
              <a:off x="2129236" y="3054967"/>
              <a:ext cx="863686" cy="430355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4E8542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……….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4E8542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78" name="Rectangle 133">
              <a:extLst>
                <a:ext uri="{FF2B5EF4-FFF2-40B4-BE49-F238E27FC236}">
                  <a16:creationId xmlns:a16="http://schemas.microsoft.com/office/drawing/2014/main" id="{34C12E91-A5C7-43BC-BCC5-D287C8BEBA83}"/>
                </a:ext>
              </a:extLst>
            </p:cNvPr>
            <p:cNvSpPr/>
            <p:nvPr/>
          </p:nvSpPr>
          <p:spPr>
            <a:xfrm>
              <a:off x="2996561" y="3054742"/>
              <a:ext cx="863686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……….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  <p:sp>
          <p:nvSpPr>
            <p:cNvPr id="79" name="Rectangle 134">
              <a:extLst>
                <a:ext uri="{FF2B5EF4-FFF2-40B4-BE49-F238E27FC236}">
                  <a16:creationId xmlns:a16="http://schemas.microsoft.com/office/drawing/2014/main" id="{170D9EA7-68EE-4B64-B69B-96A05D290E7E}"/>
                </a:ext>
              </a:extLst>
            </p:cNvPr>
            <p:cNvSpPr/>
            <p:nvPr/>
          </p:nvSpPr>
          <p:spPr>
            <a:xfrm>
              <a:off x="3863891" y="3054741"/>
              <a:ext cx="223352" cy="42643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R" sz="1000" b="0" i="0" u="none" strike="noStrike" kern="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ambria" panose="02040503050406030204" pitchFamily="18" charset="0"/>
                  <a:ea typeface="+mn-ea"/>
                  <a:cs typeface="+mn-cs"/>
                </a:rPr>
                <a:t>…</a:t>
              </a:r>
              <a:endParaRPr kumimoji="0" lang="en-GR" sz="1000" b="0" i="0" u="none" strike="noStrike" kern="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403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8" grpId="0" animBg="1"/>
      <p:bldP spid="29" grpId="0" animBg="1"/>
      <p:bldP spid="30" grpId="0"/>
      <p:bldP spid="31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EEFBC-6729-D1CE-8CE7-F5B351C0F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ounded Rectangle 20">
            <a:extLst>
              <a:ext uri="{FF2B5EF4-FFF2-40B4-BE49-F238E27FC236}">
                <a16:creationId xmlns:a16="http://schemas.microsoft.com/office/drawing/2014/main" id="{6A61738C-A3C1-4274-8F92-E341D66D08E2}"/>
              </a:ext>
            </a:extLst>
          </p:cNvPr>
          <p:cNvSpPr/>
          <p:nvPr/>
        </p:nvSpPr>
        <p:spPr>
          <a:xfrm>
            <a:off x="5447928" y="620688"/>
            <a:ext cx="3032178" cy="3476706"/>
          </a:xfrm>
          <a:prstGeom prst="roundRect">
            <a:avLst>
              <a:gd name="adj" fmla="val 5189"/>
            </a:avLst>
          </a:prstGeom>
          <a:solidFill>
            <a:srgbClr val="90E0EF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黑体" panose="02010609060101010101" pitchFamily="49" charset="-122"/>
              <a:cs typeface="Dubai" panose="020B0503030403030204" pitchFamily="34" charset="-78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F41D8BA-4CB4-4DBB-875D-1F87ADFBCD1D}"/>
              </a:ext>
            </a:extLst>
          </p:cNvPr>
          <p:cNvSpPr/>
          <p:nvPr/>
        </p:nvSpPr>
        <p:spPr>
          <a:xfrm>
            <a:off x="8708256" y="1577284"/>
            <a:ext cx="1577527" cy="350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微软雅黑" panose="020B0503020204020204" pitchFamily="34" charset="-122"/>
                <a:cs typeface="Dubai" panose="020B0503030403030204" pitchFamily="34" charset="-78"/>
              </a:rPr>
              <a:t>FN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5FAE8F6F96C59ED1"/>
                <a:ea typeface="微软雅黑" panose="020B0503020204020204" pitchFamily="34" charset="-122"/>
                <a:cs typeface="+mn-cs"/>
              </a:rPr>
              <a:t>↔</a:t>
            </a:r>
            <a:r>
              <a:rPr kumimoji="0" lang="en-US" altLang="zh-CN" sz="105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微软雅黑" panose="020B0503020204020204" pitchFamily="34" charset="-122"/>
                <a:cs typeface="Dubai" panose="020B0503030403030204" pitchFamily="34" charset="-78"/>
              </a:rPr>
              <a:t>inode</a:t>
            </a:r>
            <a:endParaRPr kumimoji="0" lang="en-US" altLang="zh-CN" sz="10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微软雅黑" panose="020B0503020204020204" pitchFamily="34" charset="-122"/>
              <a:cs typeface="Dubai" panose="020B0503030403030204" pitchFamily="34" charset="-78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52359C8-52F2-4E29-A217-14588B3DAFEA}"/>
              </a:ext>
            </a:extLst>
          </p:cNvPr>
          <p:cNvSpPr txBox="1"/>
          <p:nvPr/>
        </p:nvSpPr>
        <p:spPr>
          <a:xfrm>
            <a:off x="9100610" y="2574655"/>
            <a:ext cx="11079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提供元数据持久化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265DDEE0-67B8-4FE5-88D1-A8B009BDC77B}"/>
              </a:ext>
            </a:extLst>
          </p:cNvPr>
          <p:cNvSpPr txBox="1"/>
          <p:nvPr/>
        </p:nvSpPr>
        <p:spPr>
          <a:xfrm>
            <a:off x="7880290" y="4508273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…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1058" name="组合 1057">
            <a:extLst>
              <a:ext uri="{FF2B5EF4-FFF2-40B4-BE49-F238E27FC236}">
                <a16:creationId xmlns:a16="http://schemas.microsoft.com/office/drawing/2014/main" id="{79AA5A7A-0149-4B3F-AFA3-DED7819426F9}"/>
              </a:ext>
            </a:extLst>
          </p:cNvPr>
          <p:cNvGrpSpPr/>
          <p:nvPr/>
        </p:nvGrpSpPr>
        <p:grpSpPr>
          <a:xfrm>
            <a:off x="8561629" y="2151483"/>
            <a:ext cx="1991107" cy="463602"/>
            <a:chOff x="10038233" y="2495400"/>
            <a:chExt cx="1991107" cy="463602"/>
          </a:xfrm>
        </p:grpSpPr>
        <p:sp>
          <p:nvSpPr>
            <p:cNvPr id="152" name="矩形: 圆角 151">
              <a:extLst>
                <a:ext uri="{FF2B5EF4-FFF2-40B4-BE49-F238E27FC236}">
                  <a16:creationId xmlns:a16="http://schemas.microsoft.com/office/drawing/2014/main" id="{0DC68A86-D785-4F51-B884-0AEA4B18B2DA}"/>
                </a:ext>
              </a:extLst>
            </p:cNvPr>
            <p:cNvSpPr/>
            <p:nvPr/>
          </p:nvSpPr>
          <p:spPr>
            <a:xfrm>
              <a:off x="10038233" y="2569633"/>
              <a:ext cx="1991107" cy="389369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45" name="矩形: 圆角 1044">
              <a:extLst>
                <a:ext uri="{FF2B5EF4-FFF2-40B4-BE49-F238E27FC236}">
                  <a16:creationId xmlns:a16="http://schemas.microsoft.com/office/drawing/2014/main" id="{A3125414-E020-438B-B027-E740E97D35FD}"/>
                </a:ext>
              </a:extLst>
            </p:cNvPr>
            <p:cNvSpPr/>
            <p:nvPr/>
          </p:nvSpPr>
          <p:spPr>
            <a:xfrm>
              <a:off x="10101591" y="2649115"/>
              <a:ext cx="614932" cy="23083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rPr>
                <a:t>Inode</a:t>
              </a:r>
              <a:endParaRPr kumimoji="1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0FB3CEA8-D233-4240-8F63-3D536A4F5A72}"/>
                </a:ext>
              </a:extLst>
            </p:cNvPr>
            <p:cNvSpPr/>
            <p:nvPr/>
          </p:nvSpPr>
          <p:spPr>
            <a:xfrm>
              <a:off x="11244591" y="2651751"/>
              <a:ext cx="614932" cy="23083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rPr>
                <a:t>Inode</a:t>
              </a:r>
              <a:endParaRPr kumimoji="1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5233A124-DB08-4D86-B0AD-E153AEBDDE0D}"/>
                </a:ext>
              </a:extLst>
            </p:cNvPr>
            <p:cNvSpPr txBox="1"/>
            <p:nvPr/>
          </p:nvSpPr>
          <p:spPr>
            <a:xfrm>
              <a:off x="10699992" y="2495400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+mn-cs"/>
                </a:rPr>
                <a:t>…</a:t>
              </a:r>
              <a:endPara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4439DCCA-628C-4ED7-A93B-D503670488CA}"/>
              </a:ext>
            </a:extLst>
          </p:cNvPr>
          <p:cNvSpPr/>
          <p:nvPr/>
        </p:nvSpPr>
        <p:spPr>
          <a:xfrm>
            <a:off x="8667676" y="2921161"/>
            <a:ext cx="1874752" cy="38936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元数据存储文件</a:t>
            </a:r>
          </a:p>
        </p:txBody>
      </p: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9C7C9A04-C8E2-4BA3-AFE5-1897BFC1F7A9}"/>
              </a:ext>
            </a:extLst>
          </p:cNvPr>
          <p:cNvSpPr/>
          <p:nvPr/>
        </p:nvSpPr>
        <p:spPr>
          <a:xfrm>
            <a:off x="8685377" y="1109789"/>
            <a:ext cx="1037121" cy="38936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Inode_Bitmap</a:t>
            </a:r>
            <a:r>
              <a:rPr kumimoji="1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存储文件</a:t>
            </a:r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EE80C94A-1071-4CB7-A215-FC33AA610118}"/>
              </a:ext>
            </a:extLst>
          </p:cNvPr>
          <p:cNvSpPr/>
          <p:nvPr/>
        </p:nvSpPr>
        <p:spPr>
          <a:xfrm>
            <a:off x="5757826" y="3633814"/>
            <a:ext cx="854567" cy="35306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Volume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739F1C1F-62C0-47DF-984A-409B001D0289}"/>
              </a:ext>
            </a:extLst>
          </p:cNvPr>
          <p:cNvSpPr/>
          <p:nvPr/>
        </p:nvSpPr>
        <p:spPr>
          <a:xfrm>
            <a:off x="7016976" y="3615295"/>
            <a:ext cx="854567" cy="35306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Volume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7E8BD2AC-C0C2-4C5E-AFCF-78B461F63554}"/>
              </a:ext>
            </a:extLst>
          </p:cNvPr>
          <p:cNvSpPr txBox="1"/>
          <p:nvPr/>
        </p:nvSpPr>
        <p:spPr>
          <a:xfrm>
            <a:off x="6581851" y="3537434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…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B8C3F7C-8AEB-410B-A588-406D72A1AC55}"/>
              </a:ext>
            </a:extLst>
          </p:cNvPr>
          <p:cNvSpPr txBox="1"/>
          <p:nvPr/>
        </p:nvSpPr>
        <p:spPr>
          <a:xfrm>
            <a:off x="778143" y="2405973"/>
            <a:ext cx="1420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create/open/read/write/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close/Get/Put……</a:t>
            </a:r>
            <a:endParaRPr kumimoji="1" lang="zh-CN" altLang="en-US" sz="900" b="0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" name="箭头: 下 103">
            <a:extLst>
              <a:ext uri="{FF2B5EF4-FFF2-40B4-BE49-F238E27FC236}">
                <a16:creationId xmlns:a16="http://schemas.microsoft.com/office/drawing/2014/main" id="{CB823848-D625-46FB-918F-B3D58DB6761C}"/>
              </a:ext>
            </a:extLst>
          </p:cNvPr>
          <p:cNvSpPr/>
          <p:nvPr/>
        </p:nvSpPr>
        <p:spPr>
          <a:xfrm rot="18519332">
            <a:off x="7039630" y="4458387"/>
            <a:ext cx="180561" cy="433198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7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A72751A-0C23-4F0D-97D9-E27FE64E517C}"/>
              </a:ext>
            </a:extLst>
          </p:cNvPr>
          <p:cNvGrpSpPr/>
          <p:nvPr/>
        </p:nvGrpSpPr>
        <p:grpSpPr>
          <a:xfrm>
            <a:off x="3935314" y="1431272"/>
            <a:ext cx="1216281" cy="737745"/>
            <a:chOff x="2740291" y="3879990"/>
            <a:chExt cx="1216281" cy="737745"/>
          </a:xfrm>
        </p:grpSpPr>
        <p:sp>
          <p:nvSpPr>
            <p:cNvPr id="61" name="Rectangle 5">
              <a:extLst>
                <a:ext uri="{FF2B5EF4-FFF2-40B4-BE49-F238E27FC236}">
                  <a16:creationId xmlns:a16="http://schemas.microsoft.com/office/drawing/2014/main" id="{147D9E55-827F-4AD5-8BA4-0DACF3B7B249}"/>
                </a:ext>
              </a:extLst>
            </p:cNvPr>
            <p:cNvSpPr/>
            <p:nvPr/>
          </p:nvSpPr>
          <p:spPr>
            <a:xfrm>
              <a:off x="2861303" y="3879990"/>
              <a:ext cx="1095269" cy="622997"/>
            </a:xfrm>
            <a:prstGeom prst="rect">
              <a:avLst/>
            </a:prstGeom>
            <a:solidFill>
              <a:srgbClr val="FF6600"/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Calibri" panose="020F0502020204030204" pitchFamily="34" charset="0"/>
              </a:endParaRPr>
            </a:p>
          </p:txBody>
        </p:sp>
        <p:sp>
          <p:nvSpPr>
            <p:cNvPr id="62" name="Rectangle 5">
              <a:extLst>
                <a:ext uri="{FF2B5EF4-FFF2-40B4-BE49-F238E27FC236}">
                  <a16:creationId xmlns:a16="http://schemas.microsoft.com/office/drawing/2014/main" id="{69244185-8A9F-4B41-BA85-0FB9B868A1BA}"/>
                </a:ext>
              </a:extLst>
            </p:cNvPr>
            <p:cNvSpPr/>
            <p:nvPr/>
          </p:nvSpPr>
          <p:spPr>
            <a:xfrm>
              <a:off x="2800797" y="3937364"/>
              <a:ext cx="1095269" cy="622997"/>
            </a:xfrm>
            <a:prstGeom prst="rect">
              <a:avLst/>
            </a:prstGeom>
            <a:solidFill>
              <a:srgbClr val="FF6600"/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Calibri" panose="020F0502020204030204" pitchFamily="34" charset="0"/>
              </a:endParaRPr>
            </a:p>
          </p:txBody>
        </p:sp>
        <p:sp>
          <p:nvSpPr>
            <p:cNvPr id="63" name="Rectangle 5">
              <a:extLst>
                <a:ext uri="{FF2B5EF4-FFF2-40B4-BE49-F238E27FC236}">
                  <a16:creationId xmlns:a16="http://schemas.microsoft.com/office/drawing/2014/main" id="{33BEC627-3FC4-449A-8326-3C86B0411D47}"/>
                </a:ext>
              </a:extLst>
            </p:cNvPr>
            <p:cNvSpPr/>
            <p:nvPr/>
          </p:nvSpPr>
          <p:spPr>
            <a:xfrm>
              <a:off x="2740291" y="3994738"/>
              <a:ext cx="1095269" cy="622997"/>
            </a:xfrm>
            <a:prstGeom prst="rect">
              <a:avLst/>
            </a:prstGeom>
            <a:solidFill>
              <a:srgbClr val="FF6600"/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黑体"/>
                  <a:cs typeface="Calibri" panose="020F0502020204030204" pitchFamily="34" charset="0"/>
                </a:rPr>
                <a:t>元数据服务器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Calibri" panose="020F0502020204030204" pitchFamily="34" charset="0"/>
              </a:endParaRPr>
            </a:p>
          </p:txBody>
        </p:sp>
      </p:grpSp>
      <p:sp>
        <p:nvSpPr>
          <p:cNvPr id="88" name="箭头: 上下 87">
            <a:extLst>
              <a:ext uri="{FF2B5EF4-FFF2-40B4-BE49-F238E27FC236}">
                <a16:creationId xmlns:a16="http://schemas.microsoft.com/office/drawing/2014/main" id="{AA6B19E0-24CD-4B8E-A131-C9303DE03188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5161080" y="4718993"/>
            <a:ext cx="166159" cy="438975"/>
          </a:xfrm>
          <a:prstGeom prst="upDownArrow">
            <a:avLst>
              <a:gd name="adj1" fmla="val 58878"/>
              <a:gd name="adj2" fmla="val 50000"/>
            </a:avLst>
          </a:prstGeom>
          <a:noFill/>
          <a:ln w="25400" cap="flat" cmpd="sng" algn="ctr">
            <a:solidFill>
              <a:srgbClr val="7030A0"/>
            </a:solidFill>
            <a:prstDash val="solid"/>
            <a:miter lim="800000"/>
            <a:tailEnd type="arrow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276225" marR="0" lvl="0" indent="-276225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9" name="箭头: 上下 88">
            <a:extLst>
              <a:ext uri="{FF2B5EF4-FFF2-40B4-BE49-F238E27FC236}">
                <a16:creationId xmlns:a16="http://schemas.microsoft.com/office/drawing/2014/main" id="{5CF6D5BA-4947-42D8-BB0C-3963BEC445A4}"/>
              </a:ext>
            </a:extLst>
          </p:cNvPr>
          <p:cNvSpPr/>
          <p:nvPr/>
        </p:nvSpPr>
        <p:spPr bwMode="auto">
          <a:xfrm>
            <a:off x="2359429" y="2909783"/>
            <a:ext cx="292135" cy="1204558"/>
          </a:xfrm>
          <a:prstGeom prst="upDownArrow">
            <a:avLst/>
          </a:prstGeom>
          <a:gradFill rotWithShape="1">
            <a:gsLst>
              <a:gs pos="0">
                <a:srgbClr val="4472C4">
                  <a:satMod val="103000"/>
                  <a:lumMod val="102000"/>
                  <a:tint val="94000"/>
                </a:srgbClr>
              </a:gs>
              <a:gs pos="50000">
                <a:srgbClr val="4472C4">
                  <a:satMod val="110000"/>
                  <a:lumMod val="100000"/>
                  <a:shade val="100000"/>
                </a:srgbClr>
              </a:gs>
              <a:gs pos="100000">
                <a:srgbClr val="4472C4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仿宋" panose="02010609060101010101" pitchFamily="49" charset="-122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EBB60AE-3560-4A5C-892B-8B9FC99E8F6F}"/>
              </a:ext>
            </a:extLst>
          </p:cNvPr>
          <p:cNvGrpSpPr/>
          <p:nvPr/>
        </p:nvGrpSpPr>
        <p:grpSpPr>
          <a:xfrm>
            <a:off x="734000" y="1290998"/>
            <a:ext cx="1469193" cy="1094198"/>
            <a:chOff x="644454" y="2859360"/>
            <a:chExt cx="1469193" cy="1094198"/>
          </a:xfrm>
        </p:grpSpPr>
        <p:sp>
          <p:nvSpPr>
            <p:cNvPr id="64" name="Rectangle 5">
              <a:extLst>
                <a:ext uri="{FF2B5EF4-FFF2-40B4-BE49-F238E27FC236}">
                  <a16:creationId xmlns:a16="http://schemas.microsoft.com/office/drawing/2014/main" id="{1AF98A75-FB41-4BC6-8A6C-A8ACA931943C}"/>
                </a:ext>
              </a:extLst>
            </p:cNvPr>
            <p:cNvSpPr/>
            <p:nvPr/>
          </p:nvSpPr>
          <p:spPr>
            <a:xfrm>
              <a:off x="1253672" y="2931121"/>
              <a:ext cx="725797" cy="491337"/>
            </a:xfrm>
            <a:prstGeom prst="rect">
              <a:avLst/>
            </a:prstGeom>
            <a:solidFill>
              <a:srgbClr val="92D050"/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Calibri" panose="020F0502020204030204" pitchFamily="34" charset="0"/>
              </a:endParaRPr>
            </a:p>
          </p:txBody>
        </p:sp>
        <p:sp>
          <p:nvSpPr>
            <p:cNvPr id="65" name="Rectangle 5">
              <a:extLst>
                <a:ext uri="{FF2B5EF4-FFF2-40B4-BE49-F238E27FC236}">
                  <a16:creationId xmlns:a16="http://schemas.microsoft.com/office/drawing/2014/main" id="{24ED2FD8-2CBB-47C4-9685-DE79184F048C}"/>
                </a:ext>
              </a:extLst>
            </p:cNvPr>
            <p:cNvSpPr/>
            <p:nvPr/>
          </p:nvSpPr>
          <p:spPr>
            <a:xfrm>
              <a:off x="1130511" y="3026759"/>
              <a:ext cx="725797" cy="491337"/>
            </a:xfrm>
            <a:prstGeom prst="rect">
              <a:avLst/>
            </a:prstGeom>
            <a:solidFill>
              <a:srgbClr val="92D050"/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Calibri" panose="020F0502020204030204" pitchFamily="34" charset="0"/>
              </a:endParaRPr>
            </a:p>
          </p:txBody>
        </p:sp>
        <p:sp>
          <p:nvSpPr>
            <p:cNvPr id="66" name="Rectangle 5">
              <a:extLst>
                <a:ext uri="{FF2B5EF4-FFF2-40B4-BE49-F238E27FC236}">
                  <a16:creationId xmlns:a16="http://schemas.microsoft.com/office/drawing/2014/main" id="{A4A7C36D-62F1-4AA9-A428-46F0F5BF6F6F}"/>
                </a:ext>
              </a:extLst>
            </p:cNvPr>
            <p:cNvSpPr/>
            <p:nvPr/>
          </p:nvSpPr>
          <p:spPr>
            <a:xfrm>
              <a:off x="989189" y="3129125"/>
              <a:ext cx="725797" cy="491337"/>
            </a:xfrm>
            <a:prstGeom prst="rect">
              <a:avLst/>
            </a:prstGeom>
            <a:solidFill>
              <a:srgbClr val="92D050"/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Calibri" panose="020F0502020204030204" pitchFamily="34" charset="0"/>
              </a:endParaRPr>
            </a:p>
          </p:txBody>
        </p:sp>
        <p:sp>
          <p:nvSpPr>
            <p:cNvPr id="67" name="Rectangle 5">
              <a:extLst>
                <a:ext uri="{FF2B5EF4-FFF2-40B4-BE49-F238E27FC236}">
                  <a16:creationId xmlns:a16="http://schemas.microsoft.com/office/drawing/2014/main" id="{74055157-2C40-40CD-B919-4F522EDD991E}"/>
                </a:ext>
              </a:extLst>
            </p:cNvPr>
            <p:cNvSpPr/>
            <p:nvPr/>
          </p:nvSpPr>
          <p:spPr>
            <a:xfrm>
              <a:off x="866028" y="3224763"/>
              <a:ext cx="725797" cy="491337"/>
            </a:xfrm>
            <a:prstGeom prst="rect">
              <a:avLst/>
            </a:prstGeom>
            <a:solidFill>
              <a:srgbClr val="92D050"/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Calibri" panose="020F0502020204030204" pitchFamily="34" charset="0"/>
              </a:endParaRPr>
            </a:p>
          </p:txBody>
        </p:sp>
        <p:sp>
          <p:nvSpPr>
            <p:cNvPr id="70" name="Rectangle 5">
              <a:extLst>
                <a:ext uri="{FF2B5EF4-FFF2-40B4-BE49-F238E27FC236}">
                  <a16:creationId xmlns:a16="http://schemas.microsoft.com/office/drawing/2014/main" id="{48CB40C7-5A5D-4625-AEF8-DA6C9A23886D}"/>
                </a:ext>
              </a:extLst>
            </p:cNvPr>
            <p:cNvSpPr/>
            <p:nvPr/>
          </p:nvSpPr>
          <p:spPr>
            <a:xfrm>
              <a:off x="724706" y="3359669"/>
              <a:ext cx="725797" cy="491337"/>
            </a:xfrm>
            <a:prstGeom prst="rect">
              <a:avLst/>
            </a:prstGeom>
            <a:solidFill>
              <a:srgbClr val="92D050"/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黑体"/>
                  <a:cs typeface="Calibri" panose="020F0502020204030204" pitchFamily="34" charset="0"/>
                </a:rPr>
                <a:t>客户端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Calibri" panose="020F0502020204030204" pitchFamily="34" charset="0"/>
              </a:endParaRPr>
            </a:p>
          </p:txBody>
        </p:sp>
        <p:sp>
          <p:nvSpPr>
            <p:cNvPr id="94" name="Rectangle 9">
              <a:extLst>
                <a:ext uri="{FF2B5EF4-FFF2-40B4-BE49-F238E27FC236}">
                  <a16:creationId xmlns:a16="http://schemas.microsoft.com/office/drawing/2014/main" id="{896BCCDB-1B3C-4979-A9F2-22A147A2FA72}"/>
                </a:ext>
              </a:extLst>
            </p:cNvPr>
            <p:cNvSpPr/>
            <p:nvPr/>
          </p:nvSpPr>
          <p:spPr>
            <a:xfrm>
              <a:off x="644454" y="2859360"/>
              <a:ext cx="1415266" cy="1048779"/>
            </a:xfrm>
            <a:prstGeom prst="rect">
              <a:avLst/>
            </a:prstGeom>
            <a:noFill/>
            <a:ln w="19050" cap="flat" cmpd="sng" algn="ctr">
              <a:solidFill>
                <a:srgbClr val="7889FB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lin Sans FB"/>
                <a:ea typeface="黑体"/>
                <a:cs typeface="+mn-cs"/>
              </a:endParaRPr>
            </a:p>
          </p:txBody>
        </p:sp>
        <p:sp>
          <p:nvSpPr>
            <p:cNvPr id="98" name="TextBox 11">
              <a:extLst>
                <a:ext uri="{FF2B5EF4-FFF2-40B4-BE49-F238E27FC236}">
                  <a16:creationId xmlns:a16="http://schemas.microsoft.com/office/drawing/2014/main" id="{A9C6AF66-EA72-48D1-817A-6C1A342B40F2}"/>
                </a:ext>
              </a:extLst>
            </p:cNvPr>
            <p:cNvSpPr txBox="1"/>
            <p:nvPr/>
          </p:nvSpPr>
          <p:spPr>
            <a:xfrm rot="8242526">
              <a:off x="1537583" y="3584226"/>
              <a:ext cx="576064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黑体"/>
                  <a:cs typeface="Calibri" panose="020F0502020204030204" pitchFamily="34" charset="0"/>
                </a:rPr>
                <a:t>……</a:t>
              </a:r>
            </a:p>
          </p:txBody>
        </p:sp>
      </p:grpSp>
      <p:sp>
        <p:nvSpPr>
          <p:cNvPr id="110" name="文本框 109">
            <a:extLst>
              <a:ext uri="{FF2B5EF4-FFF2-40B4-BE49-F238E27FC236}">
                <a16:creationId xmlns:a16="http://schemas.microsoft.com/office/drawing/2014/main" id="{0EB58FEC-71F1-4825-9353-EC3AD97DBB34}"/>
              </a:ext>
            </a:extLst>
          </p:cNvPr>
          <p:cNvSpPr txBox="1"/>
          <p:nvPr/>
        </p:nvSpPr>
        <p:spPr>
          <a:xfrm>
            <a:off x="2758484" y="1369285"/>
            <a:ext cx="510718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文件元数据操作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8C80D212-E1F7-44D3-9203-260B1CF6BD71}"/>
              </a:ext>
            </a:extLst>
          </p:cNvPr>
          <p:cNvSpPr txBox="1"/>
          <p:nvPr/>
        </p:nvSpPr>
        <p:spPr>
          <a:xfrm>
            <a:off x="2864381" y="3242711"/>
            <a:ext cx="471732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文件数据操作</a:t>
            </a:r>
          </a:p>
        </p:txBody>
      </p:sp>
      <p:cxnSp>
        <p:nvCxnSpPr>
          <p:cNvPr id="112" name="Straight Arrow Connector 83">
            <a:extLst>
              <a:ext uri="{FF2B5EF4-FFF2-40B4-BE49-F238E27FC236}">
                <a16:creationId xmlns:a16="http://schemas.microsoft.com/office/drawing/2014/main" id="{EFFE40EE-A510-4E93-A926-F3A404787FB0}"/>
              </a:ext>
            </a:extLst>
          </p:cNvPr>
          <p:cNvCxnSpPr>
            <a:cxnSpLocks/>
            <a:endCxn id="45" idx="2"/>
          </p:cNvCxnSpPr>
          <p:nvPr/>
        </p:nvCxnSpPr>
        <p:spPr>
          <a:xfrm flipH="1" flipV="1">
            <a:off x="9497020" y="1927449"/>
            <a:ext cx="10448" cy="298268"/>
          </a:xfrm>
          <a:prstGeom prst="straightConnector1">
            <a:avLst/>
          </a:prstGeom>
          <a:noFill/>
          <a:ln w="38100" cap="flat" cmpd="sng" algn="ctr">
            <a:solidFill>
              <a:srgbClr val="9F2936"/>
            </a:solidFill>
            <a:prstDash val="solid"/>
            <a:miter lim="800000"/>
            <a:headEnd type="triangle"/>
            <a:tailEnd type="triangle"/>
          </a:ln>
          <a:effectLst/>
        </p:spPr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67352903-B660-4135-A72D-EDBADDBA7D04}"/>
              </a:ext>
            </a:extLst>
          </p:cNvPr>
          <p:cNvGrpSpPr/>
          <p:nvPr/>
        </p:nvGrpSpPr>
        <p:grpSpPr>
          <a:xfrm>
            <a:off x="1681236" y="4177315"/>
            <a:ext cx="3388648" cy="1754837"/>
            <a:chOff x="335360" y="5202555"/>
            <a:chExt cx="3388648" cy="1754837"/>
          </a:xfrm>
        </p:grpSpPr>
        <p:sp>
          <p:nvSpPr>
            <p:cNvPr id="71" name="Rectangle 5">
              <a:extLst>
                <a:ext uri="{FF2B5EF4-FFF2-40B4-BE49-F238E27FC236}">
                  <a16:creationId xmlns:a16="http://schemas.microsoft.com/office/drawing/2014/main" id="{1C10259F-1093-4625-90E0-BC42EFDE6BB6}"/>
                </a:ext>
              </a:extLst>
            </p:cNvPr>
            <p:cNvSpPr/>
            <p:nvPr/>
          </p:nvSpPr>
          <p:spPr>
            <a:xfrm>
              <a:off x="834553" y="5300090"/>
              <a:ext cx="1095269" cy="622997"/>
            </a:xfrm>
            <a:prstGeom prst="rect">
              <a:avLst/>
            </a:prstGeom>
            <a:solidFill>
              <a:srgbClr val="FFC000">
                <a:alpha val="41000"/>
              </a:srgbClr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Calibri" panose="020F0502020204030204" pitchFamily="34" charset="0"/>
              </a:endParaRPr>
            </a:p>
          </p:txBody>
        </p:sp>
        <p:sp>
          <p:nvSpPr>
            <p:cNvPr id="73" name="Rectangle 5">
              <a:extLst>
                <a:ext uri="{FF2B5EF4-FFF2-40B4-BE49-F238E27FC236}">
                  <a16:creationId xmlns:a16="http://schemas.microsoft.com/office/drawing/2014/main" id="{AAA6B793-20B6-40EB-A186-AF3A5CD33233}"/>
                </a:ext>
              </a:extLst>
            </p:cNvPr>
            <p:cNvSpPr/>
            <p:nvPr/>
          </p:nvSpPr>
          <p:spPr>
            <a:xfrm>
              <a:off x="777155" y="5389454"/>
              <a:ext cx="1095269" cy="622997"/>
            </a:xfrm>
            <a:prstGeom prst="rect">
              <a:avLst/>
            </a:prstGeom>
            <a:solidFill>
              <a:srgbClr val="FFC000">
                <a:alpha val="41000"/>
              </a:srgbClr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Calibri" panose="020F0502020204030204" pitchFamily="34" charset="0"/>
              </a:endParaRPr>
            </a:p>
          </p:txBody>
        </p:sp>
        <p:sp>
          <p:nvSpPr>
            <p:cNvPr id="77" name="Rectangle 5">
              <a:extLst>
                <a:ext uri="{FF2B5EF4-FFF2-40B4-BE49-F238E27FC236}">
                  <a16:creationId xmlns:a16="http://schemas.microsoft.com/office/drawing/2014/main" id="{C7776CC1-C482-4D19-9E87-954A24656DFB}"/>
                </a:ext>
              </a:extLst>
            </p:cNvPr>
            <p:cNvSpPr/>
            <p:nvPr/>
          </p:nvSpPr>
          <p:spPr>
            <a:xfrm>
              <a:off x="691940" y="5478818"/>
              <a:ext cx="1095269" cy="622997"/>
            </a:xfrm>
            <a:prstGeom prst="rect">
              <a:avLst/>
            </a:prstGeom>
            <a:solidFill>
              <a:srgbClr val="FFC000">
                <a:alpha val="41000"/>
              </a:srgbClr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Calibri" panose="020F0502020204030204" pitchFamily="34" charset="0"/>
              </a:endParaRPr>
            </a:p>
          </p:txBody>
        </p:sp>
        <p:sp>
          <p:nvSpPr>
            <p:cNvPr id="78" name="Rectangle 5">
              <a:extLst>
                <a:ext uri="{FF2B5EF4-FFF2-40B4-BE49-F238E27FC236}">
                  <a16:creationId xmlns:a16="http://schemas.microsoft.com/office/drawing/2014/main" id="{68D8FF81-416F-4CF9-8B02-7B9F80BF942B}"/>
                </a:ext>
              </a:extLst>
            </p:cNvPr>
            <p:cNvSpPr/>
            <p:nvPr/>
          </p:nvSpPr>
          <p:spPr>
            <a:xfrm>
              <a:off x="620956" y="5556428"/>
              <a:ext cx="1095269" cy="622997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Calibri" panose="020F0502020204030204" pitchFamily="34" charset="0"/>
              </a:endParaRPr>
            </a:p>
          </p:txBody>
        </p:sp>
        <p:sp>
          <p:nvSpPr>
            <p:cNvPr id="79" name="Rectangle 5">
              <a:extLst>
                <a:ext uri="{FF2B5EF4-FFF2-40B4-BE49-F238E27FC236}">
                  <a16:creationId xmlns:a16="http://schemas.microsoft.com/office/drawing/2014/main" id="{8B7C567D-411C-4C47-9746-113F0B423431}"/>
                </a:ext>
              </a:extLst>
            </p:cNvPr>
            <p:cNvSpPr/>
            <p:nvPr/>
          </p:nvSpPr>
          <p:spPr>
            <a:xfrm>
              <a:off x="563558" y="5645792"/>
              <a:ext cx="1095269" cy="622997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Calibri" panose="020F0502020204030204" pitchFamily="34" charset="0"/>
              </a:endParaRPr>
            </a:p>
          </p:txBody>
        </p:sp>
        <p:sp>
          <p:nvSpPr>
            <p:cNvPr id="80" name="Rectangle 5">
              <a:extLst>
                <a:ext uri="{FF2B5EF4-FFF2-40B4-BE49-F238E27FC236}">
                  <a16:creationId xmlns:a16="http://schemas.microsoft.com/office/drawing/2014/main" id="{9519855C-7C64-4A6B-B179-884B3475B954}"/>
                </a:ext>
              </a:extLst>
            </p:cNvPr>
            <p:cNvSpPr/>
            <p:nvPr/>
          </p:nvSpPr>
          <p:spPr>
            <a:xfrm>
              <a:off x="481393" y="5747741"/>
              <a:ext cx="1095269" cy="622997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黑体"/>
                  <a:cs typeface="Calibri" panose="020F0502020204030204" pitchFamily="34" charset="0"/>
                </a:rPr>
                <a:t>数据节点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黑体"/>
                  <a:cs typeface="Calibri" panose="020F0502020204030204" pitchFamily="34" charset="0"/>
                </a:rPr>
                <a:t> (SN)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黑体"/>
                <a:cs typeface="Calibri" panose="020F0502020204030204" pitchFamily="34" charset="0"/>
              </a:endParaRPr>
            </a:p>
          </p:txBody>
        </p:sp>
        <p:sp>
          <p:nvSpPr>
            <p:cNvPr id="87" name="Rectangle 9">
              <a:extLst>
                <a:ext uri="{FF2B5EF4-FFF2-40B4-BE49-F238E27FC236}">
                  <a16:creationId xmlns:a16="http://schemas.microsoft.com/office/drawing/2014/main" id="{CFB5A910-B1B6-41AA-9777-D0EFE874516F}"/>
                </a:ext>
              </a:extLst>
            </p:cNvPr>
            <p:cNvSpPr/>
            <p:nvPr/>
          </p:nvSpPr>
          <p:spPr>
            <a:xfrm>
              <a:off x="335360" y="5202555"/>
              <a:ext cx="3356457" cy="1754837"/>
            </a:xfrm>
            <a:prstGeom prst="rect">
              <a:avLst/>
            </a:prstGeom>
            <a:noFill/>
            <a:ln w="19050" cap="flat" cmpd="sng" algn="ctr">
              <a:solidFill>
                <a:srgbClr val="7889FB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lin Sans FB"/>
                <a:ea typeface="黑体"/>
                <a:cs typeface="+mn-cs"/>
              </a:endParaRPr>
            </a:p>
          </p:txBody>
        </p:sp>
        <p:sp>
          <p:nvSpPr>
            <p:cNvPr id="91" name="箭头: 下弧形 90">
              <a:extLst>
                <a:ext uri="{FF2B5EF4-FFF2-40B4-BE49-F238E27FC236}">
                  <a16:creationId xmlns:a16="http://schemas.microsoft.com/office/drawing/2014/main" id="{D2BC9064-532E-4ABA-B780-8F807B387546}"/>
                </a:ext>
              </a:extLst>
            </p:cNvPr>
            <p:cNvSpPr/>
            <p:nvPr/>
          </p:nvSpPr>
          <p:spPr bwMode="auto">
            <a:xfrm>
              <a:off x="1342125" y="6395823"/>
              <a:ext cx="936104" cy="453678"/>
            </a:xfrm>
            <a:prstGeom prst="curvedUpArrow">
              <a:avLst/>
            </a:prstGeom>
            <a:noFill/>
            <a:ln w="25400" cap="flat" cmpd="sng" algn="ctr">
              <a:solidFill>
                <a:srgbClr val="00B050"/>
              </a:solidFill>
              <a:prstDash val="solid"/>
              <a:miter lim="800000"/>
              <a:tailEnd type="arrow"/>
            </a:ln>
            <a:effectLst/>
          </p:spPr>
          <p:txBody>
            <a:bodyPr vert="horz" wrap="none" lIns="91440" tIns="45720" rIns="91440" bIns="45720" numCol="1" rtlCol="0" anchor="t" anchorCtr="0" compatLnSpc="1">
              <a:spAutoFit/>
            </a:bodyPr>
            <a:lstStyle/>
            <a:p>
              <a:pPr marL="276225" marR="0" lvl="0" indent="-276225" algn="l" defTabSz="914400" rtl="0" eaLnBrk="1" fontAlgn="auto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3366FF"/>
                </a:buClr>
                <a:buSzPct val="75000"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0" name="TextBox 11">
              <a:extLst>
                <a:ext uri="{FF2B5EF4-FFF2-40B4-BE49-F238E27FC236}">
                  <a16:creationId xmlns:a16="http://schemas.microsoft.com/office/drawing/2014/main" id="{57B05B01-02BC-4DDA-93DB-7473ADE19AA6}"/>
                </a:ext>
              </a:extLst>
            </p:cNvPr>
            <p:cNvSpPr txBox="1"/>
            <p:nvPr/>
          </p:nvSpPr>
          <p:spPr>
            <a:xfrm rot="8242526">
              <a:off x="1503615" y="6154704"/>
              <a:ext cx="576064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黑体"/>
                  <a:cs typeface="Calibri" panose="020F0502020204030204" pitchFamily="34" charset="0"/>
                </a:rPr>
                <a:t>……</a:t>
              </a: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132E8D1-57D9-4C05-AD93-A51802FA5C08}"/>
                </a:ext>
              </a:extLst>
            </p:cNvPr>
            <p:cNvGrpSpPr/>
            <p:nvPr/>
          </p:nvGrpSpPr>
          <p:grpSpPr>
            <a:xfrm>
              <a:off x="2029207" y="5293915"/>
              <a:ext cx="1694801" cy="1200648"/>
              <a:chOff x="2029207" y="5293915"/>
              <a:chExt cx="1694801" cy="1200648"/>
            </a:xfrm>
          </p:grpSpPr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D17B9677-2B21-423F-98C7-F8A2F38D351E}"/>
                  </a:ext>
                </a:extLst>
              </p:cNvPr>
              <p:cNvGrpSpPr/>
              <p:nvPr/>
            </p:nvGrpSpPr>
            <p:grpSpPr>
              <a:xfrm>
                <a:off x="2029207" y="5293915"/>
                <a:ext cx="1448429" cy="1070648"/>
                <a:chOff x="2010109" y="5300090"/>
                <a:chExt cx="1448429" cy="1070648"/>
              </a:xfrm>
            </p:grpSpPr>
            <p:sp>
              <p:nvSpPr>
                <p:cNvPr id="81" name="Rectangle 5">
                  <a:extLst>
                    <a:ext uri="{FF2B5EF4-FFF2-40B4-BE49-F238E27FC236}">
                      <a16:creationId xmlns:a16="http://schemas.microsoft.com/office/drawing/2014/main" id="{163E2901-4A7E-42FA-A92B-1AE4DBB7DAF0}"/>
                    </a:ext>
                  </a:extLst>
                </p:cNvPr>
                <p:cNvSpPr/>
                <p:nvPr/>
              </p:nvSpPr>
              <p:spPr>
                <a:xfrm>
                  <a:off x="2363269" y="5300090"/>
                  <a:ext cx="1095269" cy="622997"/>
                </a:xfrm>
                <a:prstGeom prst="rect">
                  <a:avLst/>
                </a:prstGeom>
                <a:solidFill>
                  <a:srgbClr val="BBE0E3">
                    <a:lumMod val="25000"/>
                    <a:alpha val="48000"/>
                  </a:srgbClr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黑体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2" name="Rectangle 5">
                  <a:extLst>
                    <a:ext uri="{FF2B5EF4-FFF2-40B4-BE49-F238E27FC236}">
                      <a16:creationId xmlns:a16="http://schemas.microsoft.com/office/drawing/2014/main" id="{BFF50FD8-E542-4A3B-8BC0-A221189DDE63}"/>
                    </a:ext>
                  </a:extLst>
                </p:cNvPr>
                <p:cNvSpPr/>
                <p:nvPr/>
              </p:nvSpPr>
              <p:spPr>
                <a:xfrm>
                  <a:off x="2305871" y="5389454"/>
                  <a:ext cx="1095269" cy="622997"/>
                </a:xfrm>
                <a:prstGeom prst="rect">
                  <a:avLst/>
                </a:prstGeom>
                <a:solidFill>
                  <a:srgbClr val="BBE0E3">
                    <a:lumMod val="25000"/>
                    <a:alpha val="48000"/>
                  </a:srgbClr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黑体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3" name="Rectangle 5">
                  <a:extLst>
                    <a:ext uri="{FF2B5EF4-FFF2-40B4-BE49-F238E27FC236}">
                      <a16:creationId xmlns:a16="http://schemas.microsoft.com/office/drawing/2014/main" id="{64DC5321-FB75-490C-9D94-2A988EE1D8CF}"/>
                    </a:ext>
                  </a:extLst>
                </p:cNvPr>
                <p:cNvSpPr/>
                <p:nvPr/>
              </p:nvSpPr>
              <p:spPr>
                <a:xfrm>
                  <a:off x="2220656" y="5478818"/>
                  <a:ext cx="1095269" cy="622997"/>
                </a:xfrm>
                <a:prstGeom prst="rect">
                  <a:avLst/>
                </a:prstGeom>
                <a:solidFill>
                  <a:srgbClr val="BBE0E3">
                    <a:lumMod val="25000"/>
                    <a:alpha val="48000"/>
                  </a:srgbClr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黑体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4" name="Rectangle 5">
                  <a:extLst>
                    <a:ext uri="{FF2B5EF4-FFF2-40B4-BE49-F238E27FC236}">
                      <a16:creationId xmlns:a16="http://schemas.microsoft.com/office/drawing/2014/main" id="{81F8B58E-816C-4D2A-A158-9790DFF79A74}"/>
                    </a:ext>
                  </a:extLst>
                </p:cNvPr>
                <p:cNvSpPr/>
                <p:nvPr/>
              </p:nvSpPr>
              <p:spPr>
                <a:xfrm>
                  <a:off x="2149672" y="5556428"/>
                  <a:ext cx="1095269" cy="622997"/>
                </a:xfrm>
                <a:prstGeom prst="rect">
                  <a:avLst/>
                </a:prstGeom>
                <a:solidFill>
                  <a:srgbClr val="BBE0E3">
                    <a:lumMod val="25000"/>
                  </a:srgbClr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黑体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5" name="Rectangle 5">
                  <a:extLst>
                    <a:ext uri="{FF2B5EF4-FFF2-40B4-BE49-F238E27FC236}">
                      <a16:creationId xmlns:a16="http://schemas.microsoft.com/office/drawing/2014/main" id="{D5CF7B25-0123-4EB8-B5BA-5132BBF2F56F}"/>
                    </a:ext>
                  </a:extLst>
                </p:cNvPr>
                <p:cNvSpPr/>
                <p:nvPr/>
              </p:nvSpPr>
              <p:spPr>
                <a:xfrm>
                  <a:off x="2092274" y="5645792"/>
                  <a:ext cx="1095269" cy="622997"/>
                </a:xfrm>
                <a:prstGeom prst="rect">
                  <a:avLst/>
                </a:prstGeom>
                <a:solidFill>
                  <a:srgbClr val="BBE0E3">
                    <a:lumMod val="25000"/>
                  </a:srgbClr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黑体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6" name="Rectangle 5">
                  <a:extLst>
                    <a:ext uri="{FF2B5EF4-FFF2-40B4-BE49-F238E27FC236}">
                      <a16:creationId xmlns:a16="http://schemas.microsoft.com/office/drawing/2014/main" id="{11E47493-9781-424A-B8C4-2753C5833726}"/>
                    </a:ext>
                  </a:extLst>
                </p:cNvPr>
                <p:cNvSpPr/>
                <p:nvPr/>
              </p:nvSpPr>
              <p:spPr>
                <a:xfrm>
                  <a:off x="2010109" y="5747741"/>
                  <a:ext cx="1095269" cy="622997"/>
                </a:xfrm>
                <a:prstGeom prst="rect">
                  <a:avLst/>
                </a:prstGeom>
                <a:solidFill>
                  <a:srgbClr val="BBE0E3">
                    <a:lumMod val="25000"/>
                  </a:srgbClr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黑体"/>
                      <a:cs typeface="Calibri" panose="020F0502020204030204" pitchFamily="34" charset="0"/>
                    </a:rPr>
                    <a:t>光盘库</a:t>
                  </a:r>
                  <a:r>
                    <a:rPr kumimoji="0" lang="en-US" altLang="zh-CN" sz="18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黑体"/>
                      <a:cs typeface="Calibri" panose="020F0502020204030204" pitchFamily="34" charset="0"/>
                    </a:rPr>
                    <a:t>DISCLib</a:t>
                  </a:r>
                  <a:r>
                    <a:rPr kumimoji="0" lang="en-US" altLang="zh-CN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黑体"/>
                      <a:cs typeface="Calibri" panose="020F0502020204030204" pitchFamily="34" charset="0"/>
                    </a:rPr>
                    <a:t>)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黑体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09" name="TextBox 11">
                <a:extLst>
                  <a:ext uri="{FF2B5EF4-FFF2-40B4-BE49-F238E27FC236}">
                    <a16:creationId xmlns:a16="http://schemas.microsoft.com/office/drawing/2014/main" id="{09BA3F02-22AD-4579-9AFC-9BB5E8026C4A}"/>
                  </a:ext>
                </a:extLst>
              </p:cNvPr>
              <p:cNvSpPr txBox="1"/>
              <p:nvPr/>
            </p:nvSpPr>
            <p:spPr>
              <a:xfrm rot="8242526">
                <a:off x="3147944" y="6125231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黑体"/>
                    <a:cs typeface="Calibri" panose="020F0502020204030204" pitchFamily="34" charset="0"/>
                  </a:rPr>
                  <a:t>……</a:t>
                </a:r>
              </a:p>
            </p:txBody>
          </p:sp>
        </p:grp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4D207A56-F567-43C3-9441-EF3AE15B402C}"/>
                </a:ext>
              </a:extLst>
            </p:cNvPr>
            <p:cNvSpPr txBox="1"/>
            <p:nvPr/>
          </p:nvSpPr>
          <p:spPr>
            <a:xfrm>
              <a:off x="1531850" y="6485187"/>
              <a:ext cx="510718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光盘刻录</a:t>
              </a:r>
            </a:p>
          </p:txBody>
        </p:sp>
      </p:grpSp>
      <p:sp>
        <p:nvSpPr>
          <p:cNvPr id="114" name="文本框 113">
            <a:extLst>
              <a:ext uri="{FF2B5EF4-FFF2-40B4-BE49-F238E27FC236}">
                <a16:creationId xmlns:a16="http://schemas.microsoft.com/office/drawing/2014/main" id="{14EC9B2D-4E5B-4F62-926D-7060505898B4}"/>
              </a:ext>
            </a:extLst>
          </p:cNvPr>
          <p:cNvSpPr txBox="1"/>
          <p:nvPr/>
        </p:nvSpPr>
        <p:spPr>
          <a:xfrm>
            <a:off x="3704865" y="5497300"/>
            <a:ext cx="68969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数据刻录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/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迁移后修改</a:t>
            </a:r>
          </a:p>
        </p:txBody>
      </p:sp>
      <p:sp>
        <p:nvSpPr>
          <p:cNvPr id="115" name="Rectangle 9">
            <a:extLst>
              <a:ext uri="{FF2B5EF4-FFF2-40B4-BE49-F238E27FC236}">
                <a16:creationId xmlns:a16="http://schemas.microsoft.com/office/drawing/2014/main" id="{275856D8-C9FB-4FEF-9C7B-5C7367689C49}"/>
              </a:ext>
            </a:extLst>
          </p:cNvPr>
          <p:cNvSpPr/>
          <p:nvPr/>
        </p:nvSpPr>
        <p:spPr>
          <a:xfrm>
            <a:off x="3825446" y="1260114"/>
            <a:ext cx="1415266" cy="1048779"/>
          </a:xfrm>
          <a:prstGeom prst="rect">
            <a:avLst/>
          </a:prstGeom>
          <a:noFill/>
          <a:ln w="19050" cap="flat" cmpd="sng" algn="ctr">
            <a:solidFill>
              <a:srgbClr val="7889FB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lin Sans FB"/>
              <a:ea typeface="黑体"/>
              <a:cs typeface="+mn-cs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1EA7798-F3C0-4A90-B45A-89A3919B3D22}"/>
              </a:ext>
            </a:extLst>
          </p:cNvPr>
          <p:cNvSpPr/>
          <p:nvPr/>
        </p:nvSpPr>
        <p:spPr>
          <a:xfrm>
            <a:off x="2217567" y="2161013"/>
            <a:ext cx="1588828" cy="71204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文件（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POSIX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）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存储对象（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S3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）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数据集操作接口</a:t>
            </a:r>
          </a:p>
        </p:txBody>
      </p:sp>
      <p:sp>
        <p:nvSpPr>
          <p:cNvPr id="119" name="Rounded Rectangle 23">
            <a:extLst>
              <a:ext uri="{FF2B5EF4-FFF2-40B4-BE49-F238E27FC236}">
                <a16:creationId xmlns:a16="http://schemas.microsoft.com/office/drawing/2014/main" id="{D867AC30-3533-4885-9246-F07D33E32A01}"/>
              </a:ext>
            </a:extLst>
          </p:cNvPr>
          <p:cNvSpPr/>
          <p:nvPr/>
        </p:nvSpPr>
        <p:spPr>
          <a:xfrm>
            <a:off x="5449409" y="4226429"/>
            <a:ext cx="3030698" cy="1643535"/>
          </a:xfrm>
          <a:prstGeom prst="roundRect">
            <a:avLst>
              <a:gd name="adj" fmla="val 5189"/>
            </a:avLst>
          </a:prstGeom>
          <a:solidFill>
            <a:srgbClr val="FFD97D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微软雅黑" panose="020B0503020204020204" pitchFamily="34" charset="-122"/>
                <a:cs typeface="Dubai" panose="020B0503030403030204" pitchFamily="34" charset="-78"/>
              </a:rPr>
              <a:t>存储资源管理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黑体" panose="02010609060101010101" pitchFamily="49" charset="-122"/>
              <a:cs typeface="Dubai" panose="020B0503030403030204" pitchFamily="34" charset="-78"/>
            </a:endParaRPr>
          </a:p>
        </p:txBody>
      </p:sp>
      <p:sp>
        <p:nvSpPr>
          <p:cNvPr id="122" name="Rounded Rectangle 29">
            <a:extLst>
              <a:ext uri="{FF2B5EF4-FFF2-40B4-BE49-F238E27FC236}">
                <a16:creationId xmlns:a16="http://schemas.microsoft.com/office/drawing/2014/main" id="{E9A5E9C0-ABC2-4358-A158-5DAE765FF2C3}"/>
              </a:ext>
            </a:extLst>
          </p:cNvPr>
          <p:cNvSpPr/>
          <p:nvPr/>
        </p:nvSpPr>
        <p:spPr>
          <a:xfrm>
            <a:off x="7071473" y="1103250"/>
            <a:ext cx="832126" cy="432007"/>
          </a:xfrm>
          <a:prstGeom prst="roundRect">
            <a:avLst>
              <a:gd name="adj" fmla="val 5189"/>
            </a:avLst>
          </a:prstGeom>
          <a:solidFill>
            <a:srgbClr val="4EA72E">
              <a:lumMod val="20000"/>
              <a:lumOff val="80000"/>
            </a:srgbClr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微软雅黑" panose="020B0503020204020204" pitchFamily="34" charset="-122"/>
                <a:cs typeface="Dubai" panose="020B0503030403030204" pitchFamily="34" charset="-78"/>
              </a:rPr>
              <a:t>Inode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微软雅黑" panose="020B0503020204020204" pitchFamily="34" charset="-122"/>
                <a:cs typeface="Dubai" panose="020B0503030403030204" pitchFamily="34" charset="-78"/>
              </a:rPr>
              <a:t>位图表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黑体" panose="02010609060101010101" pitchFamily="49" charset="-122"/>
              <a:cs typeface="Dubai" panose="020B0503030403030204" pitchFamily="34" charset="-78"/>
            </a:endParaRPr>
          </a:p>
        </p:txBody>
      </p:sp>
      <p:cxnSp>
        <p:nvCxnSpPr>
          <p:cNvPr id="123" name="Straight Arrow Connector 30">
            <a:extLst>
              <a:ext uri="{FF2B5EF4-FFF2-40B4-BE49-F238E27FC236}">
                <a16:creationId xmlns:a16="http://schemas.microsoft.com/office/drawing/2014/main" id="{74F2167E-95CA-4A58-B292-0A96AAA7F55C}"/>
              </a:ext>
            </a:extLst>
          </p:cNvPr>
          <p:cNvCxnSpPr>
            <a:cxnSpLocks/>
          </p:cNvCxnSpPr>
          <p:nvPr/>
        </p:nvCxnSpPr>
        <p:spPr>
          <a:xfrm flipV="1">
            <a:off x="6496007" y="1244646"/>
            <a:ext cx="592730" cy="188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24" name="Rounded Rectangle 31">
            <a:extLst>
              <a:ext uri="{FF2B5EF4-FFF2-40B4-BE49-F238E27FC236}">
                <a16:creationId xmlns:a16="http://schemas.microsoft.com/office/drawing/2014/main" id="{A9BBDBC5-6DCA-4DC5-AA6A-D382A5531F94}"/>
              </a:ext>
            </a:extLst>
          </p:cNvPr>
          <p:cNvSpPr/>
          <p:nvPr/>
        </p:nvSpPr>
        <p:spPr>
          <a:xfrm>
            <a:off x="2651054" y="6037305"/>
            <a:ext cx="1310969" cy="627590"/>
          </a:xfrm>
          <a:prstGeom prst="roundRect">
            <a:avLst>
              <a:gd name="adj" fmla="val 5189"/>
            </a:avLst>
          </a:prstGeom>
          <a:solidFill>
            <a:srgbClr val="FFF3B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黑体" panose="02010609060101010101" pitchFamily="49" charset="-122"/>
                <a:cs typeface="Dubai" panose="020B0503030403030204" pitchFamily="34" charset="-78"/>
              </a:rPr>
              <a:t>冷数据识别及归档策略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黑体" panose="02010609060101010101" pitchFamily="49" charset="-122"/>
              <a:cs typeface="Dubai" panose="020B0503030403030204" pitchFamily="34" charset="-78"/>
            </a:endParaRPr>
          </a:p>
        </p:txBody>
      </p:sp>
      <p:sp>
        <p:nvSpPr>
          <p:cNvPr id="125" name="Rounded Rectangle 32">
            <a:extLst>
              <a:ext uri="{FF2B5EF4-FFF2-40B4-BE49-F238E27FC236}">
                <a16:creationId xmlns:a16="http://schemas.microsoft.com/office/drawing/2014/main" id="{6DA58B9B-9978-437D-B795-8BE015B84677}"/>
              </a:ext>
            </a:extLst>
          </p:cNvPr>
          <p:cNvSpPr/>
          <p:nvPr/>
        </p:nvSpPr>
        <p:spPr>
          <a:xfrm>
            <a:off x="5605761" y="3073485"/>
            <a:ext cx="2298750" cy="371726"/>
          </a:xfrm>
          <a:prstGeom prst="roundRect">
            <a:avLst>
              <a:gd name="adj" fmla="val 5189"/>
            </a:avLst>
          </a:prstGeom>
          <a:solidFill>
            <a:srgbClr val="FFFF00">
              <a:alpha val="23000"/>
            </a:srgbClr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微软雅黑" panose="020B0503020204020204" pitchFamily="34" charset="-122"/>
                <a:cs typeface="Dubai" panose="020B0503030403030204" pitchFamily="34" charset="-78"/>
              </a:rPr>
              <a:t>块卷管理器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黑体" panose="02010609060101010101" pitchFamily="49" charset="-122"/>
              <a:cs typeface="Dubai" panose="020B0503030403030204" pitchFamily="34" charset="-78"/>
            </a:endParaRPr>
          </a:p>
        </p:txBody>
      </p:sp>
      <p:sp>
        <p:nvSpPr>
          <p:cNvPr id="126" name="Rounded Rectangle 33">
            <a:extLst>
              <a:ext uri="{FF2B5EF4-FFF2-40B4-BE49-F238E27FC236}">
                <a16:creationId xmlns:a16="http://schemas.microsoft.com/office/drawing/2014/main" id="{58E6D248-D64A-4FB7-81E5-40AD2ACC700E}"/>
              </a:ext>
            </a:extLst>
          </p:cNvPr>
          <p:cNvSpPr/>
          <p:nvPr/>
        </p:nvSpPr>
        <p:spPr>
          <a:xfrm>
            <a:off x="5710707" y="5211629"/>
            <a:ext cx="2487686" cy="475199"/>
          </a:xfrm>
          <a:prstGeom prst="roundRect">
            <a:avLst>
              <a:gd name="adj" fmla="val 5189"/>
            </a:avLst>
          </a:prstGeom>
          <a:solidFill>
            <a:srgbClr val="FFFF00">
              <a:alpha val="13000"/>
            </a:srgbClr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微软雅黑" panose="020B0503020204020204" pitchFamily="34" charset="-122"/>
                <a:cs typeface="Dubai" panose="020B0503030403030204" pitchFamily="34" charset="-78"/>
              </a:rPr>
              <a:t>光盘数据布局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黑体" panose="02010609060101010101" pitchFamily="49" charset="-122"/>
              <a:cs typeface="Dubai" panose="020B0503030403030204" pitchFamily="34" charset="-78"/>
            </a:endParaRPr>
          </a:p>
        </p:txBody>
      </p:sp>
      <p:sp>
        <p:nvSpPr>
          <p:cNvPr id="129" name="Rounded Rectangle 36">
            <a:extLst>
              <a:ext uri="{FF2B5EF4-FFF2-40B4-BE49-F238E27FC236}">
                <a16:creationId xmlns:a16="http://schemas.microsoft.com/office/drawing/2014/main" id="{259368F6-0BEF-4A10-9256-68960D5D92F3}"/>
              </a:ext>
            </a:extLst>
          </p:cNvPr>
          <p:cNvSpPr/>
          <p:nvPr/>
        </p:nvSpPr>
        <p:spPr>
          <a:xfrm>
            <a:off x="5671112" y="4627690"/>
            <a:ext cx="780413" cy="475199"/>
          </a:xfrm>
          <a:prstGeom prst="roundRect">
            <a:avLst>
              <a:gd name="adj" fmla="val 0"/>
            </a:avLst>
          </a:prstGeom>
          <a:solidFill>
            <a:srgbClr val="E8E8E8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微软雅黑" panose="020B0503020204020204" pitchFamily="34" charset="-122"/>
                <a:cs typeface="Dubai" panose="020B0503030403030204" pitchFamily="34" charset="-78"/>
              </a:rPr>
              <a:t>存储节点管理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黑体" panose="02010609060101010101" pitchFamily="49" charset="-122"/>
              <a:cs typeface="Dubai" panose="020B0503030403030204" pitchFamily="34" charset="-78"/>
            </a:endParaRPr>
          </a:p>
        </p:txBody>
      </p:sp>
      <p:sp>
        <p:nvSpPr>
          <p:cNvPr id="130" name="Rounded Rectangle 37">
            <a:extLst>
              <a:ext uri="{FF2B5EF4-FFF2-40B4-BE49-F238E27FC236}">
                <a16:creationId xmlns:a16="http://schemas.microsoft.com/office/drawing/2014/main" id="{60A0B16E-4786-46BC-B976-8BA31BA00139}"/>
              </a:ext>
            </a:extLst>
          </p:cNvPr>
          <p:cNvSpPr/>
          <p:nvPr/>
        </p:nvSpPr>
        <p:spPr>
          <a:xfrm>
            <a:off x="7417980" y="4636479"/>
            <a:ext cx="780413" cy="478472"/>
          </a:xfrm>
          <a:prstGeom prst="roundRect">
            <a:avLst>
              <a:gd name="adj" fmla="val 5189"/>
            </a:avLst>
          </a:prstGeom>
          <a:solidFill>
            <a:srgbClr val="4EA72E">
              <a:lumMod val="20000"/>
              <a:lumOff val="80000"/>
            </a:srgbClr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微软雅黑" panose="020B0503020204020204" pitchFamily="34" charset="-122"/>
                <a:cs typeface="Dubai" panose="020B0503030403030204" pitchFamily="34" charset="-78"/>
              </a:rPr>
              <a:t>光盘管理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黑体" panose="02010609060101010101" pitchFamily="49" charset="-122"/>
              <a:cs typeface="Dubai" panose="020B0503030403030204" pitchFamily="34" charset="-78"/>
            </a:endParaRPr>
          </a:p>
        </p:txBody>
      </p:sp>
      <p:sp>
        <p:nvSpPr>
          <p:cNvPr id="134" name="Rounded Rectangle 47">
            <a:extLst>
              <a:ext uri="{FF2B5EF4-FFF2-40B4-BE49-F238E27FC236}">
                <a16:creationId xmlns:a16="http://schemas.microsoft.com/office/drawing/2014/main" id="{BF522495-D398-4195-A333-E08237867424}"/>
              </a:ext>
            </a:extLst>
          </p:cNvPr>
          <p:cNvSpPr/>
          <p:nvPr/>
        </p:nvSpPr>
        <p:spPr>
          <a:xfrm>
            <a:off x="5575537" y="686441"/>
            <a:ext cx="918261" cy="400111"/>
          </a:xfrm>
          <a:prstGeom prst="roundRect">
            <a:avLst>
              <a:gd name="adj" fmla="val 5189"/>
            </a:avLst>
          </a:prstGeom>
          <a:solidFill>
            <a:srgbClr val="FFFF00">
              <a:alpha val="13000"/>
            </a:srgbClr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黑体" panose="02010609060101010101" pitchFamily="49" charset="-122"/>
              <a:cs typeface="Dubai" panose="020B0503030403030204" pitchFamily="34" charset="-78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Dubai" panose="020B0503030403030204" pitchFamily="34" charset="-78"/>
              </a:rPr>
              <a:t>句柄管理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黑体" panose="02010609060101010101" pitchFamily="49" charset="-122"/>
              <a:cs typeface="Dubai" panose="020B0503030403030204" pitchFamily="34" charset="-78"/>
            </a:endParaRPr>
          </a:p>
        </p:txBody>
      </p:sp>
      <p:sp>
        <p:nvSpPr>
          <p:cNvPr id="135" name="Rounded Rectangle 48">
            <a:extLst>
              <a:ext uri="{FF2B5EF4-FFF2-40B4-BE49-F238E27FC236}">
                <a16:creationId xmlns:a16="http://schemas.microsoft.com/office/drawing/2014/main" id="{C0161D22-C4F2-4010-909C-C7DC3AB043E4}"/>
              </a:ext>
            </a:extLst>
          </p:cNvPr>
          <p:cNvSpPr/>
          <p:nvPr/>
        </p:nvSpPr>
        <p:spPr>
          <a:xfrm>
            <a:off x="5581543" y="2093099"/>
            <a:ext cx="899773" cy="785849"/>
          </a:xfrm>
          <a:prstGeom prst="roundRect">
            <a:avLst>
              <a:gd name="adj" fmla="val 5189"/>
            </a:avLst>
          </a:prstGeom>
          <a:solidFill>
            <a:srgbClr val="A02B93">
              <a:lumMod val="20000"/>
              <a:lumOff val="80000"/>
            </a:srgbClr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微软雅黑" panose="020B0503020204020204" pitchFamily="34" charset="-122"/>
                <a:cs typeface="Dubai" panose="020B0503030403030204" pitchFamily="34" charset="-78"/>
              </a:rPr>
              <a:t>文件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微软雅黑" panose="020B0503020204020204" pitchFamily="34" charset="-122"/>
              <a:cs typeface="Dubai" panose="020B0503030403030204" pitchFamily="34" charset="-78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微软雅黑" panose="020B0503020204020204" pitchFamily="34" charset="-122"/>
                <a:cs typeface="Dubai" panose="020B0503030403030204" pitchFamily="34" charset="-78"/>
              </a:rPr>
              <a:t>分配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黑体" panose="02010609060101010101" pitchFamily="49" charset="-122"/>
              <a:cs typeface="Dubai" panose="020B0503030403030204" pitchFamily="34" charset="-78"/>
            </a:endParaRPr>
          </a:p>
        </p:txBody>
      </p:sp>
      <p:sp>
        <p:nvSpPr>
          <p:cNvPr id="136" name="Rounded Rectangle 49">
            <a:extLst>
              <a:ext uri="{FF2B5EF4-FFF2-40B4-BE49-F238E27FC236}">
                <a16:creationId xmlns:a16="http://schemas.microsoft.com/office/drawing/2014/main" id="{57202457-89EA-41DB-9F86-41559CD5AC57}"/>
              </a:ext>
            </a:extLst>
          </p:cNvPr>
          <p:cNvSpPr/>
          <p:nvPr/>
        </p:nvSpPr>
        <p:spPr>
          <a:xfrm>
            <a:off x="7073087" y="1607265"/>
            <a:ext cx="821618" cy="640848"/>
          </a:xfrm>
          <a:prstGeom prst="roundRect">
            <a:avLst>
              <a:gd name="adj" fmla="val 5189"/>
            </a:avLst>
          </a:prstGeom>
          <a:solidFill>
            <a:srgbClr val="D9ED92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微软雅黑" panose="020B0503020204020204" pitchFamily="34" charset="-122"/>
                <a:cs typeface="Dubai" panose="020B0503030403030204" pitchFamily="34" charset="-78"/>
              </a:rPr>
              <a:t>Inode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微软雅黑" panose="020B0503020204020204" pitchFamily="34" charset="-122"/>
              <a:cs typeface="Dubai" panose="020B0503030403030204" pitchFamily="34" charset="-78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微软雅黑" panose="020B0503020204020204" pitchFamily="34" charset="-122"/>
                <a:cs typeface="Dubai" panose="020B0503030403030204" pitchFamily="34" charset="-78"/>
              </a:rPr>
              <a:t>索引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微软雅黑" panose="020B0503020204020204" pitchFamily="34" charset="-122"/>
              <a:cs typeface="Dubai" panose="020B0503030403030204" pitchFamily="34" charset="-78"/>
            </a:endParaRPr>
          </a:p>
        </p:txBody>
      </p:sp>
      <p:cxnSp>
        <p:nvCxnSpPr>
          <p:cNvPr id="137" name="Straight Arrow Connector 50">
            <a:extLst>
              <a:ext uri="{FF2B5EF4-FFF2-40B4-BE49-F238E27FC236}">
                <a16:creationId xmlns:a16="http://schemas.microsoft.com/office/drawing/2014/main" id="{C128CA29-4BE7-4B4C-B773-35070F4F7A66}"/>
              </a:ext>
            </a:extLst>
          </p:cNvPr>
          <p:cNvCxnSpPr>
            <a:cxnSpLocks/>
          </p:cNvCxnSpPr>
          <p:nvPr/>
        </p:nvCxnSpPr>
        <p:spPr>
          <a:xfrm flipH="1">
            <a:off x="6475309" y="1749164"/>
            <a:ext cx="613428" cy="2117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39" name="Rounded Rectangle 56">
            <a:extLst>
              <a:ext uri="{FF2B5EF4-FFF2-40B4-BE49-F238E27FC236}">
                <a16:creationId xmlns:a16="http://schemas.microsoft.com/office/drawing/2014/main" id="{E00C2846-4F78-4C04-A707-C6FAB44F181A}"/>
              </a:ext>
            </a:extLst>
          </p:cNvPr>
          <p:cNvSpPr/>
          <p:nvPr/>
        </p:nvSpPr>
        <p:spPr>
          <a:xfrm>
            <a:off x="5575536" y="1156484"/>
            <a:ext cx="918502" cy="697611"/>
          </a:xfrm>
          <a:prstGeom prst="roundRect">
            <a:avLst>
              <a:gd name="adj" fmla="val 5189"/>
            </a:avLst>
          </a:prstGeom>
          <a:solidFill>
            <a:srgbClr val="0F9ED5">
              <a:lumMod val="20000"/>
              <a:lumOff val="80000"/>
            </a:srgbClr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Dubai" panose="020B0503030403030204" pitchFamily="34" charset="-78"/>
              </a:rPr>
              <a:t>文件命名空间管理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黑体" panose="02010609060101010101" pitchFamily="49" charset="-122"/>
              <a:cs typeface="Dubai" panose="020B0503030403030204" pitchFamily="34" charset="-78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D34F6CC0-8F4F-4F07-8CF6-D45F4C0D663A}"/>
              </a:ext>
            </a:extLst>
          </p:cNvPr>
          <p:cNvSpPr txBox="1"/>
          <p:nvPr/>
        </p:nvSpPr>
        <p:spPr>
          <a:xfrm>
            <a:off x="7967848" y="1078090"/>
            <a:ext cx="6177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分配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回收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145" name="Straight Arrow Connector 83">
            <a:extLst>
              <a:ext uri="{FF2B5EF4-FFF2-40B4-BE49-F238E27FC236}">
                <a16:creationId xmlns:a16="http://schemas.microsoft.com/office/drawing/2014/main" id="{A9DF3373-9D5E-4AAE-8D54-CFB128F0620C}"/>
              </a:ext>
            </a:extLst>
          </p:cNvPr>
          <p:cNvCxnSpPr>
            <a:cxnSpLocks/>
          </p:cNvCxnSpPr>
          <p:nvPr/>
        </p:nvCxnSpPr>
        <p:spPr>
          <a:xfrm>
            <a:off x="7894705" y="1308923"/>
            <a:ext cx="850216" cy="0"/>
          </a:xfrm>
          <a:prstGeom prst="straightConnector1">
            <a:avLst/>
          </a:prstGeom>
          <a:noFill/>
          <a:ln w="38100" cap="flat" cmpd="sng" algn="ctr">
            <a:solidFill>
              <a:srgbClr val="9F2936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46" name="文本框 145">
            <a:extLst>
              <a:ext uri="{FF2B5EF4-FFF2-40B4-BE49-F238E27FC236}">
                <a16:creationId xmlns:a16="http://schemas.microsoft.com/office/drawing/2014/main" id="{06433AFC-34E8-45B6-ACB4-64A6AA0B1974}"/>
              </a:ext>
            </a:extLst>
          </p:cNvPr>
          <p:cNvSpPr txBox="1"/>
          <p:nvPr/>
        </p:nvSpPr>
        <p:spPr>
          <a:xfrm>
            <a:off x="6586016" y="993122"/>
            <a:ext cx="5876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创建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删除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147" name="Straight Arrow Connector 83">
            <a:extLst>
              <a:ext uri="{FF2B5EF4-FFF2-40B4-BE49-F238E27FC236}">
                <a16:creationId xmlns:a16="http://schemas.microsoft.com/office/drawing/2014/main" id="{A65AC082-5BB5-4754-9F36-2118F32433C9}"/>
              </a:ext>
            </a:extLst>
          </p:cNvPr>
          <p:cNvCxnSpPr>
            <a:cxnSpLocks/>
          </p:cNvCxnSpPr>
          <p:nvPr/>
        </p:nvCxnSpPr>
        <p:spPr>
          <a:xfrm>
            <a:off x="7871543" y="1839148"/>
            <a:ext cx="850216" cy="0"/>
          </a:xfrm>
          <a:prstGeom prst="straightConnector1">
            <a:avLst/>
          </a:prstGeom>
          <a:noFill/>
          <a:ln w="38100" cap="flat" cmpd="sng" algn="ctr">
            <a:solidFill>
              <a:srgbClr val="9F2936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48" name="文本框 147">
            <a:extLst>
              <a:ext uri="{FF2B5EF4-FFF2-40B4-BE49-F238E27FC236}">
                <a16:creationId xmlns:a16="http://schemas.microsoft.com/office/drawing/2014/main" id="{0C042DFA-5151-42AD-97B8-1B9AE400B9C0}"/>
              </a:ext>
            </a:extLst>
          </p:cNvPr>
          <p:cNvSpPr txBox="1"/>
          <p:nvPr/>
        </p:nvSpPr>
        <p:spPr>
          <a:xfrm>
            <a:off x="6615040" y="1472165"/>
            <a:ext cx="6177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查找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49" name="Picture 4">
            <a:extLst>
              <a:ext uri="{FF2B5EF4-FFF2-40B4-BE49-F238E27FC236}">
                <a16:creationId xmlns:a16="http://schemas.microsoft.com/office/drawing/2014/main" id="{FF33B82D-1ABC-478C-9D95-075E1E8E5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2763" y="1192478"/>
            <a:ext cx="14859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4BC9E83A-CB8D-4CC7-BF2D-95518C16A89A}"/>
              </a:ext>
            </a:extLst>
          </p:cNvPr>
          <p:cNvSpPr txBox="1"/>
          <p:nvPr/>
        </p:nvSpPr>
        <p:spPr>
          <a:xfrm>
            <a:off x="6656464" y="627705"/>
            <a:ext cx="901419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分配文件句柄并绑定</a:t>
            </a:r>
            <a:r>
              <a:rPr kumimoji="1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inode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4874CB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4874CB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3" name="Rounded Rectangle 29">
            <a:extLst>
              <a:ext uri="{FF2B5EF4-FFF2-40B4-BE49-F238E27FC236}">
                <a16:creationId xmlns:a16="http://schemas.microsoft.com/office/drawing/2014/main" id="{EDA69EE2-5A4E-4605-9A3B-14B0DB488379}"/>
              </a:ext>
            </a:extLst>
          </p:cNvPr>
          <p:cNvSpPr/>
          <p:nvPr/>
        </p:nvSpPr>
        <p:spPr>
          <a:xfrm>
            <a:off x="7088737" y="2320183"/>
            <a:ext cx="832126" cy="523569"/>
          </a:xfrm>
          <a:prstGeom prst="roundRect">
            <a:avLst>
              <a:gd name="adj" fmla="val 5189"/>
            </a:avLst>
          </a:prstGeom>
          <a:solidFill>
            <a:srgbClr val="4EA72E">
              <a:lumMod val="20000"/>
              <a:lumOff val="80000"/>
            </a:srgbClr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微软雅黑" panose="020B0503020204020204" pitchFamily="34" charset="-122"/>
                <a:cs typeface="Dubai" panose="020B0503030403030204" pitchFamily="34" charset="-78"/>
              </a:rPr>
              <a:t>块位图表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黑体" panose="02010609060101010101" pitchFamily="49" charset="-122"/>
              <a:cs typeface="Dubai" panose="020B0503030403030204" pitchFamily="34" charset="-78"/>
            </a:endParaRPr>
          </a:p>
        </p:txBody>
      </p:sp>
      <p:cxnSp>
        <p:nvCxnSpPr>
          <p:cNvPr id="160" name="Straight Arrow Connector 50">
            <a:extLst>
              <a:ext uri="{FF2B5EF4-FFF2-40B4-BE49-F238E27FC236}">
                <a16:creationId xmlns:a16="http://schemas.microsoft.com/office/drawing/2014/main" id="{7FA24006-283C-4DA2-BAA7-B4044DFD8821}"/>
              </a:ext>
            </a:extLst>
          </p:cNvPr>
          <p:cNvCxnSpPr>
            <a:cxnSpLocks/>
          </p:cNvCxnSpPr>
          <p:nvPr/>
        </p:nvCxnSpPr>
        <p:spPr>
          <a:xfrm flipH="1" flipV="1">
            <a:off x="6493798" y="2702842"/>
            <a:ext cx="594939" cy="5749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6E673950-8CCB-4882-A9A6-472E8C103709}"/>
              </a:ext>
            </a:extLst>
          </p:cNvPr>
          <p:cNvSpPr txBox="1"/>
          <p:nvPr/>
        </p:nvSpPr>
        <p:spPr>
          <a:xfrm>
            <a:off x="6581851" y="2470938"/>
            <a:ext cx="6177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分配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回收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B3759AD7-E01D-4E77-9BA9-9B37DB2D819A}"/>
              </a:ext>
            </a:extLst>
          </p:cNvPr>
          <p:cNvSpPr/>
          <p:nvPr/>
        </p:nvSpPr>
        <p:spPr>
          <a:xfrm>
            <a:off x="8685377" y="3567496"/>
            <a:ext cx="1898189" cy="38936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卷信息存储文件</a:t>
            </a:r>
          </a:p>
        </p:txBody>
      </p:sp>
      <p:sp>
        <p:nvSpPr>
          <p:cNvPr id="164" name="箭头: 上下 163">
            <a:extLst>
              <a:ext uri="{FF2B5EF4-FFF2-40B4-BE49-F238E27FC236}">
                <a16:creationId xmlns:a16="http://schemas.microsoft.com/office/drawing/2014/main" id="{91FBBA50-FA59-4D4E-9133-60712733DBFD}"/>
              </a:ext>
            </a:extLst>
          </p:cNvPr>
          <p:cNvSpPr/>
          <p:nvPr/>
        </p:nvSpPr>
        <p:spPr bwMode="auto">
          <a:xfrm rot="16200000">
            <a:off x="2909577" y="1025428"/>
            <a:ext cx="292135" cy="1812757"/>
          </a:xfrm>
          <a:prstGeom prst="upDownArrow">
            <a:avLst/>
          </a:prstGeom>
          <a:gradFill rotWithShape="1">
            <a:gsLst>
              <a:gs pos="0">
                <a:srgbClr val="4472C4">
                  <a:satMod val="103000"/>
                  <a:lumMod val="102000"/>
                  <a:tint val="94000"/>
                </a:srgbClr>
              </a:gs>
              <a:gs pos="50000">
                <a:srgbClr val="4472C4">
                  <a:satMod val="110000"/>
                  <a:lumMod val="100000"/>
                  <a:shade val="100000"/>
                </a:srgbClr>
              </a:gs>
              <a:gs pos="100000">
                <a:srgbClr val="4472C4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24D57BA0-0A48-4D0B-8F8E-E530BF4FF8A4}"/>
              </a:ext>
            </a:extLst>
          </p:cNvPr>
          <p:cNvSpPr txBox="1"/>
          <p:nvPr/>
        </p:nvSpPr>
        <p:spPr>
          <a:xfrm>
            <a:off x="6320200" y="3398931"/>
            <a:ext cx="10701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卷操作接口</a:t>
            </a:r>
          </a:p>
        </p:txBody>
      </p:sp>
      <p:cxnSp>
        <p:nvCxnSpPr>
          <p:cNvPr id="118" name="Straight Arrow Connector 83">
            <a:extLst>
              <a:ext uri="{FF2B5EF4-FFF2-40B4-BE49-F238E27FC236}">
                <a16:creationId xmlns:a16="http://schemas.microsoft.com/office/drawing/2014/main" id="{DA1856CA-A4AE-4372-A10A-E7ACC1314BDE}"/>
              </a:ext>
            </a:extLst>
          </p:cNvPr>
          <p:cNvCxnSpPr>
            <a:cxnSpLocks/>
          </p:cNvCxnSpPr>
          <p:nvPr/>
        </p:nvCxnSpPr>
        <p:spPr>
          <a:xfrm flipH="1" flipV="1">
            <a:off x="9061211" y="2626755"/>
            <a:ext cx="2" cy="264464"/>
          </a:xfrm>
          <a:prstGeom prst="straightConnector1">
            <a:avLst/>
          </a:prstGeom>
          <a:noFill/>
          <a:ln w="38100" cap="flat" cmpd="sng" algn="ctr">
            <a:solidFill>
              <a:srgbClr val="9F2936"/>
            </a:solidFill>
            <a:prstDash val="solid"/>
            <a:miter lim="800000"/>
            <a:headEnd type="triangle"/>
            <a:tailEnd type="triangle"/>
          </a:ln>
          <a:effectLst/>
        </p:spPr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B213617-F321-41A2-B5E3-48AA77870582}"/>
              </a:ext>
            </a:extLst>
          </p:cNvPr>
          <p:cNvGrpSpPr/>
          <p:nvPr/>
        </p:nvGrpSpPr>
        <p:grpSpPr>
          <a:xfrm>
            <a:off x="6470347" y="803365"/>
            <a:ext cx="597627" cy="1146369"/>
            <a:chOff x="6678972" y="320844"/>
            <a:chExt cx="597627" cy="1146369"/>
          </a:xfrm>
        </p:grpSpPr>
        <p:cxnSp>
          <p:nvCxnSpPr>
            <p:cNvPr id="127" name="Straight Arrow Connector 96">
              <a:extLst>
                <a:ext uri="{FF2B5EF4-FFF2-40B4-BE49-F238E27FC236}">
                  <a16:creationId xmlns:a16="http://schemas.microsoft.com/office/drawing/2014/main" id="{203DA918-2CA7-4831-B0F5-E56445ACE5C5}"/>
                </a:ext>
              </a:extLst>
            </p:cNvPr>
            <p:cNvCxnSpPr>
              <a:cxnSpLocks/>
            </p:cNvCxnSpPr>
            <p:nvPr/>
          </p:nvCxnSpPr>
          <p:spPr>
            <a:xfrm>
              <a:off x="6865900" y="320844"/>
              <a:ext cx="0" cy="1146369"/>
            </a:xfrm>
            <a:prstGeom prst="straightConnector1">
              <a:avLst/>
            </a:prstGeom>
            <a:noFill/>
            <a:ln w="28575" cap="flat" cmpd="sng" algn="ctr">
              <a:solidFill>
                <a:srgbClr val="747494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128" name="Straight Arrow Connector 107">
              <a:extLst>
                <a:ext uri="{FF2B5EF4-FFF2-40B4-BE49-F238E27FC236}">
                  <a16:creationId xmlns:a16="http://schemas.microsoft.com/office/drawing/2014/main" id="{D6FEC523-AE60-4B9A-B379-ED451A147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8972" y="332656"/>
              <a:ext cx="186928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747494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8" name="Straight Arrow Connector 107">
              <a:extLst>
                <a:ext uri="{FF2B5EF4-FFF2-40B4-BE49-F238E27FC236}">
                  <a16:creationId xmlns:a16="http://schemas.microsoft.com/office/drawing/2014/main" id="{A85A639F-D94E-424A-9B08-254EE8081ABB}"/>
                </a:ext>
              </a:extLst>
            </p:cNvPr>
            <p:cNvCxnSpPr>
              <a:cxnSpLocks/>
            </p:cNvCxnSpPr>
            <p:nvPr/>
          </p:nvCxnSpPr>
          <p:spPr>
            <a:xfrm>
              <a:off x="6865900" y="1457797"/>
              <a:ext cx="410699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747494"/>
              </a:solidFill>
              <a:prstDash val="solid"/>
              <a:miter lim="800000"/>
              <a:tailEnd type="triangle"/>
            </a:ln>
            <a:effectLst/>
          </p:spPr>
        </p:cxnSp>
      </p:grpSp>
      <p:cxnSp>
        <p:nvCxnSpPr>
          <p:cNvPr id="141" name="Straight Arrow Connector 50">
            <a:extLst>
              <a:ext uri="{FF2B5EF4-FFF2-40B4-BE49-F238E27FC236}">
                <a16:creationId xmlns:a16="http://schemas.microsoft.com/office/drawing/2014/main" id="{A9B04471-CC07-499D-858C-621A40EAD9EE}"/>
              </a:ext>
            </a:extLst>
          </p:cNvPr>
          <p:cNvCxnSpPr>
            <a:cxnSpLocks/>
          </p:cNvCxnSpPr>
          <p:nvPr/>
        </p:nvCxnSpPr>
        <p:spPr>
          <a:xfrm flipH="1" flipV="1">
            <a:off x="6490622" y="2199893"/>
            <a:ext cx="594939" cy="5749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42" name="文本框 141">
            <a:extLst>
              <a:ext uri="{FF2B5EF4-FFF2-40B4-BE49-F238E27FC236}">
                <a16:creationId xmlns:a16="http://schemas.microsoft.com/office/drawing/2014/main" id="{2D2E5B69-26B3-4CF1-81BB-B20FD219AC26}"/>
              </a:ext>
            </a:extLst>
          </p:cNvPr>
          <p:cNvSpPr txBox="1"/>
          <p:nvPr/>
        </p:nvSpPr>
        <p:spPr>
          <a:xfrm>
            <a:off x="6586016" y="1963489"/>
            <a:ext cx="6177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更新索引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143" name="Straight Arrow Connector 45">
            <a:extLst>
              <a:ext uri="{FF2B5EF4-FFF2-40B4-BE49-F238E27FC236}">
                <a16:creationId xmlns:a16="http://schemas.microsoft.com/office/drawing/2014/main" id="{650D8D49-F955-4CF5-A060-5ADFE3C8D19D}"/>
              </a:ext>
            </a:extLst>
          </p:cNvPr>
          <p:cNvCxnSpPr>
            <a:cxnSpLocks/>
          </p:cNvCxnSpPr>
          <p:nvPr/>
        </p:nvCxnSpPr>
        <p:spPr>
          <a:xfrm>
            <a:off x="7444218" y="2829072"/>
            <a:ext cx="0" cy="223665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150" name="Straight Arrow Connector 45">
            <a:extLst>
              <a:ext uri="{FF2B5EF4-FFF2-40B4-BE49-F238E27FC236}">
                <a16:creationId xmlns:a16="http://schemas.microsoft.com/office/drawing/2014/main" id="{E1B2A762-BD9D-4518-86DF-8D371A7DC924}"/>
              </a:ext>
            </a:extLst>
          </p:cNvPr>
          <p:cNvCxnSpPr>
            <a:cxnSpLocks/>
          </p:cNvCxnSpPr>
          <p:nvPr/>
        </p:nvCxnSpPr>
        <p:spPr>
          <a:xfrm>
            <a:off x="6103399" y="2849820"/>
            <a:ext cx="0" cy="223665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51" name="Rounded Rectangle 36">
            <a:extLst>
              <a:ext uri="{FF2B5EF4-FFF2-40B4-BE49-F238E27FC236}">
                <a16:creationId xmlns:a16="http://schemas.microsoft.com/office/drawing/2014/main" id="{3FFF7329-36B2-44FC-BF39-68A6144033B8}"/>
              </a:ext>
            </a:extLst>
          </p:cNvPr>
          <p:cNvSpPr/>
          <p:nvPr/>
        </p:nvSpPr>
        <p:spPr>
          <a:xfrm>
            <a:off x="6516625" y="4622817"/>
            <a:ext cx="820466" cy="475199"/>
          </a:xfrm>
          <a:prstGeom prst="roundRect">
            <a:avLst>
              <a:gd name="adj" fmla="val 0"/>
            </a:avLst>
          </a:prstGeom>
          <a:solidFill>
            <a:srgbClr val="E8E8E8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微软雅黑" panose="020B0503020204020204" pitchFamily="34" charset="-122"/>
                <a:cs typeface="Dubai" panose="020B0503030403030204" pitchFamily="34" charset="-78"/>
              </a:rPr>
              <a:t>光盘库管理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黑体" panose="02010609060101010101" pitchFamily="49" charset="-122"/>
              <a:cs typeface="Dubai" panose="020B0503030403030204" pitchFamily="34" charset="-78"/>
            </a:endParaRPr>
          </a:p>
        </p:txBody>
      </p:sp>
      <p:cxnSp>
        <p:nvCxnSpPr>
          <p:cNvPr id="157" name="Straight Arrow Connector 83">
            <a:extLst>
              <a:ext uri="{FF2B5EF4-FFF2-40B4-BE49-F238E27FC236}">
                <a16:creationId xmlns:a16="http://schemas.microsoft.com/office/drawing/2014/main" id="{0ACA1566-8F14-4F84-8B79-789227E98CC0}"/>
              </a:ext>
            </a:extLst>
          </p:cNvPr>
          <p:cNvCxnSpPr>
            <a:cxnSpLocks/>
          </p:cNvCxnSpPr>
          <p:nvPr/>
        </p:nvCxnSpPr>
        <p:spPr>
          <a:xfrm>
            <a:off x="7817460" y="3762180"/>
            <a:ext cx="850216" cy="0"/>
          </a:xfrm>
          <a:prstGeom prst="straightConnector1">
            <a:avLst/>
          </a:prstGeom>
          <a:noFill/>
          <a:ln w="38100" cap="flat" cmpd="sng" algn="ctr">
            <a:solidFill>
              <a:srgbClr val="9F2936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159" name="Straight Arrow Connector 83">
            <a:extLst>
              <a:ext uri="{FF2B5EF4-FFF2-40B4-BE49-F238E27FC236}">
                <a16:creationId xmlns:a16="http://schemas.microsoft.com/office/drawing/2014/main" id="{B36F3DB0-4D13-4C36-B3CF-D2E0E0776B77}"/>
              </a:ext>
            </a:extLst>
          </p:cNvPr>
          <p:cNvCxnSpPr>
            <a:cxnSpLocks/>
          </p:cNvCxnSpPr>
          <p:nvPr/>
        </p:nvCxnSpPr>
        <p:spPr>
          <a:xfrm flipV="1">
            <a:off x="8242568" y="4877605"/>
            <a:ext cx="479191" cy="13143"/>
          </a:xfrm>
          <a:prstGeom prst="straightConnector1">
            <a:avLst/>
          </a:prstGeom>
          <a:noFill/>
          <a:ln w="38100" cap="flat" cmpd="sng" algn="ctr">
            <a:solidFill>
              <a:srgbClr val="9F2936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66" name="矩形: 圆角 165">
            <a:extLst>
              <a:ext uri="{FF2B5EF4-FFF2-40B4-BE49-F238E27FC236}">
                <a16:creationId xmlns:a16="http://schemas.microsoft.com/office/drawing/2014/main" id="{BDF3171E-BEAE-47E4-B970-27D61A5CA9A0}"/>
              </a:ext>
            </a:extLst>
          </p:cNvPr>
          <p:cNvSpPr/>
          <p:nvPr/>
        </p:nvSpPr>
        <p:spPr>
          <a:xfrm>
            <a:off x="8741381" y="4681031"/>
            <a:ext cx="1811356" cy="38936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存储资源存储文件</a:t>
            </a:r>
          </a:p>
        </p:txBody>
      </p:sp>
      <p:cxnSp>
        <p:nvCxnSpPr>
          <p:cNvPr id="168" name="Straight Arrow Connector 80">
            <a:extLst>
              <a:ext uri="{FF2B5EF4-FFF2-40B4-BE49-F238E27FC236}">
                <a16:creationId xmlns:a16="http://schemas.microsoft.com/office/drawing/2014/main" id="{017ABFEA-0902-4DF4-A548-99D08681CF8A}"/>
              </a:ext>
            </a:extLst>
          </p:cNvPr>
          <p:cNvCxnSpPr>
            <a:cxnSpLocks/>
          </p:cNvCxnSpPr>
          <p:nvPr/>
        </p:nvCxnSpPr>
        <p:spPr>
          <a:xfrm flipV="1">
            <a:off x="6014664" y="4088829"/>
            <a:ext cx="1" cy="542772"/>
          </a:xfrm>
          <a:prstGeom prst="straightConnector1">
            <a:avLst/>
          </a:prstGeom>
          <a:noFill/>
          <a:ln w="28575" cap="flat" cmpd="sng" algn="ctr">
            <a:solidFill>
              <a:srgbClr val="8D676F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132" name="Straight Arrow Connector 96">
            <a:extLst>
              <a:ext uri="{FF2B5EF4-FFF2-40B4-BE49-F238E27FC236}">
                <a16:creationId xmlns:a16="http://schemas.microsoft.com/office/drawing/2014/main" id="{9ACE2E50-F245-4113-922B-295833A0F191}"/>
              </a:ext>
            </a:extLst>
          </p:cNvPr>
          <p:cNvCxnSpPr>
            <a:cxnSpLocks/>
          </p:cNvCxnSpPr>
          <p:nvPr/>
        </p:nvCxnSpPr>
        <p:spPr>
          <a:xfrm>
            <a:off x="10999943" y="2405973"/>
            <a:ext cx="66998" cy="3952025"/>
          </a:xfrm>
          <a:prstGeom prst="straightConnector1">
            <a:avLst/>
          </a:prstGeom>
          <a:noFill/>
          <a:ln w="28575" cap="flat" cmpd="sng" algn="ctr">
            <a:solidFill>
              <a:srgbClr val="747494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162" name="Straight Arrow Connector 107">
            <a:extLst>
              <a:ext uri="{FF2B5EF4-FFF2-40B4-BE49-F238E27FC236}">
                <a16:creationId xmlns:a16="http://schemas.microsoft.com/office/drawing/2014/main" id="{DF0E4838-A8BB-43B5-A54A-56FC2B8024AD}"/>
              </a:ext>
            </a:extLst>
          </p:cNvPr>
          <p:cNvCxnSpPr>
            <a:cxnSpLocks/>
          </p:cNvCxnSpPr>
          <p:nvPr/>
        </p:nvCxnSpPr>
        <p:spPr>
          <a:xfrm flipH="1">
            <a:off x="3956248" y="6351100"/>
            <a:ext cx="7115703" cy="25832"/>
          </a:xfrm>
          <a:prstGeom prst="straightConnector1">
            <a:avLst/>
          </a:prstGeom>
          <a:noFill/>
          <a:ln w="28575" cap="flat" cmpd="sng" algn="ctr">
            <a:solidFill>
              <a:srgbClr val="74749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5" name="Straight Arrow Connector 107">
            <a:extLst>
              <a:ext uri="{FF2B5EF4-FFF2-40B4-BE49-F238E27FC236}">
                <a16:creationId xmlns:a16="http://schemas.microsoft.com/office/drawing/2014/main" id="{642AE3A7-4F3C-4591-9211-24F76CB4371A}"/>
              </a:ext>
            </a:extLst>
          </p:cNvPr>
          <p:cNvCxnSpPr>
            <a:cxnSpLocks/>
          </p:cNvCxnSpPr>
          <p:nvPr/>
        </p:nvCxnSpPr>
        <p:spPr>
          <a:xfrm flipH="1">
            <a:off x="10528166" y="2428052"/>
            <a:ext cx="468441" cy="0"/>
          </a:xfrm>
          <a:prstGeom prst="straightConnector1">
            <a:avLst/>
          </a:prstGeom>
          <a:noFill/>
          <a:ln w="28575" cap="flat" cmpd="sng" algn="ctr">
            <a:solidFill>
              <a:srgbClr val="747494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32692190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ln w="25400">
          <a:solidFill>
            <a:srgbClr val="00B050"/>
          </a:solidFill>
          <a:tailEnd type="arrow"/>
        </a:ln>
      </a:spPr>
      <a:bodyPr vert="horz" wrap="none" lIns="91440" tIns="45720" rIns="91440" bIns="45720" numCol="1" rtlCol="0" anchor="t" anchorCtr="0" compatLnSpc="1">
        <a:spAutoFit/>
      </a:bodyPr>
      <a:lstStyle>
        <a:defPPr marL="276225" marR="0" indent="-276225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rgbClr val="3366FF"/>
          </a:buClr>
          <a:buSzPct val="75000"/>
          <a:buFont typeface="Wingdings" panose="05000000000000000000" pitchFamily="2" charset="2"/>
          <a:buNone/>
          <a:defRPr kumimoji="1" sz="2000" b="0" i="0" u="none" strike="noStrike" cap="none" normalizeH="0" baseline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dist="107763" dir="27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276225" marR="0" indent="-276225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rgbClr val="3366FF"/>
          </a:buClr>
          <a:buSzPct val="75000"/>
          <a:buFont typeface="Wingdings" panose="05000000000000000000" pitchFamily="2" charset="2"/>
          <a:buNone/>
          <a:defRPr kumimoji="1" lang="zh-CN" altLang="en-US" sz="20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dist="107763" dir="2700000" algn="ctr" rotWithShape="0">
            <a:schemeClr val="bg2">
              <a:alpha val="50000"/>
            </a:schemeClr>
          </a:outerShdw>
        </a:effectLst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14:hiddenLine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276225" marR="0" indent="-276225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rgbClr val="3366FF"/>
          </a:buClr>
          <a:buSzPct val="75000"/>
          <a:buFont typeface="Wingdings" panose="05000000000000000000" pitchFamily="2" charset="2"/>
          <a:buNone/>
          <a:tabLst/>
          <a:defRPr kumimoji="1" lang="zh-CN" altLang="en-US" sz="20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dist="107763" dir="2700000" algn="ctr" rotWithShape="0">
            <a:schemeClr val="bg2">
              <a:alpha val="50000"/>
            </a:schemeClr>
          </a:outerShdw>
        </a:effectLst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14:hiddenLine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276225" marR="0" indent="-276225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rgbClr val="3366FF"/>
          </a:buClr>
          <a:buSzPct val="75000"/>
          <a:buFont typeface="Wingdings" panose="05000000000000000000" pitchFamily="2" charset="2"/>
          <a:buNone/>
          <a:tabLst/>
          <a:defRPr kumimoji="1" lang="zh-CN" altLang="en-US" sz="20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5047</TotalTime>
  <Words>526</Words>
  <Application>Microsoft Office PowerPoint</Application>
  <PresentationFormat>宽屏</PresentationFormat>
  <Paragraphs>157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</vt:i4>
      </vt:variant>
    </vt:vector>
  </HeadingPairs>
  <TitlesOfParts>
    <vt:vector size="25" baseType="lpstr">
      <vt:lpstr>5FAE8F6F96C59ED1</vt:lpstr>
      <vt:lpstr>Inter</vt:lpstr>
      <vt:lpstr>黑体</vt:lpstr>
      <vt:lpstr>楷体</vt:lpstr>
      <vt:lpstr>微软雅黑</vt:lpstr>
      <vt:lpstr>Arial</vt:lpstr>
      <vt:lpstr>Berlin Sans FB</vt:lpstr>
      <vt:lpstr>Calibri</vt:lpstr>
      <vt:lpstr>Cambria</vt:lpstr>
      <vt:lpstr>Comic Sans MS</vt:lpstr>
      <vt:lpstr>Cooper Black</vt:lpstr>
      <vt:lpstr>Corbel</vt:lpstr>
      <vt:lpstr>Garamond</vt:lpstr>
      <vt:lpstr>Lucida Sans</vt:lpstr>
      <vt:lpstr>Tahoma</vt:lpstr>
      <vt:lpstr>Times</vt:lpstr>
      <vt:lpstr>Times New Roman</vt:lpstr>
      <vt:lpstr>Wingdings</vt:lpstr>
      <vt:lpstr>1_自定义设计方案</vt:lpstr>
      <vt:lpstr>2_自定义设计方案</vt:lpstr>
      <vt:lpstr>WPS</vt:lpstr>
      <vt:lpstr>Edge</vt:lpstr>
      <vt:lpstr>ZB级海量冷数据存储架构及高效存储管理系统</vt:lpstr>
      <vt:lpstr>PowerPoint 演示文稿</vt:lpstr>
      <vt:lpstr>PowerPoint 演示文稿</vt:lpstr>
    </vt:vector>
  </TitlesOfParts>
  <Company>WNLO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Optical Storage: An emerging option for digital long term preservation</dc:title>
  <dc:creator>wsc</dc:creator>
  <cp:lastModifiedBy>cq</cp:lastModifiedBy>
  <cp:revision>637</cp:revision>
  <dcterms:created xsi:type="dcterms:W3CDTF">2007-06-21T01:14:00Z</dcterms:created>
  <dcterms:modified xsi:type="dcterms:W3CDTF">2025-09-01T03:57:01Z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5A71B90E637F45E2AF02C6FB3B68D12A_12</vt:lpwstr>
  </property>
  <property fmtid="{D5CDD505-2E9C-101B-9397-08002B2CF9AE}" pid="3" name="KSOProductBuildVer">
    <vt:lpwstr>2052-12.1.0.18912</vt:lpwstr>
  </property>
</Properties>
</file>